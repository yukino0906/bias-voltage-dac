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authors.xml" ContentType="application/vnd.ms-powerpoint.author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a8c2ca2981ea416b" /><Relationship Type="http://schemas.openxmlformats.org/officeDocument/2006/relationships/extended-properties" Target="/docProps/app.xml" Id="Rf62ffe7fd0654f6c" /><Relationship Type="http://schemas.openxmlformats.org/officeDocument/2006/relationships/officeDocument" Target="/ppt/presentation.xml" Id="R860f8d915e1a455d" /></Relationships>
</file>

<file path=ppt/presentation.xml><?xml version="1.0" encoding="utf-8"?>
<p:presentation xmlns:p="http://schemas.openxmlformats.org/presentationml/2006/main">
  <p:sldMasterIdLst>
    <p:sldMasterId xmlns:r="http://schemas.openxmlformats.org/officeDocument/2006/relationships" id="2147483648" r:id="R9a9720c7430043bc"/>
  </p:sldMasterIdLst>
  <p:notesMasterIdLst>
    <p:notesMasterId xmlns:r="http://schemas.openxmlformats.org/officeDocument/2006/relationships" r:id="R40a1a7a28b054018"/>
  </p:notesMasterIdLst>
  <p:sldIdLst>
    <p:sldId xmlns:r="http://schemas.openxmlformats.org/officeDocument/2006/relationships" id="256" r:id="Rb1b992add6b54b35"/>
    <p:sldId xmlns:r="http://schemas.openxmlformats.org/officeDocument/2006/relationships" id="257" r:id="Rf186bd88f45e415b"/>
    <p:sldId xmlns:r="http://schemas.openxmlformats.org/officeDocument/2006/relationships" id="258" r:id="Rf1fbc60fe9024007"/>
    <p:sldId xmlns:r="http://schemas.openxmlformats.org/officeDocument/2006/relationships" id="259" r:id="Re0f237438e0e4dc6"/>
    <p:sldId xmlns:r="http://schemas.openxmlformats.org/officeDocument/2006/relationships" id="260" r:id="Rfb9dae0102a04688"/>
    <p:sldId xmlns:r="http://schemas.openxmlformats.org/officeDocument/2006/relationships" id="261" r:id="R8a341ff227a74b0b"/>
  </p:sldIdLst>
  <p:sldSz cx="12192000" cy="6858000"/>
  <p:notesSz cx="6858000" cy="9144000"/>
</p:presentation>
</file>

<file path=ppt/authors.xml><?xml version="1.0" encoding="utf-8"?>
<p188:authorLst xmlns:p188="http://schemas.microsoft.com/office/powerpoint/2018/8/main">
  <p188:author id="{A26CE219-6CB4-4D82-2315-C217F06FFCCD}" name="Hiller, Kelly R" initials="HKR" userId="S::khiller@purdue.edu::b25b1487-7f5e-4b7f-a0b2-f8bcb0b1ea5a" providerId="AD"/>
</p188:authorLst>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f6831e740d284b30" /><Relationship Type="http://schemas.openxmlformats.org/officeDocument/2006/relationships/slideMaster" Target="/ppt/slideMasters/slideMaster1.xml" Id="R9a9720c7430043bc" /><Relationship Type="http://schemas.openxmlformats.org/officeDocument/2006/relationships/notesMaster" Target="/ppt/notesMasters/notesMaster1.xml" Id="R40a1a7a28b054018" /><Relationship Type="http://schemas.openxmlformats.org/officeDocument/2006/relationships/presProps" Target="/ppt/presProps.xml" Id="Rbb7d6f0ad3024238" /><Relationship Type="http://schemas.openxmlformats.org/officeDocument/2006/relationships/viewProps" Target="/ppt/viewProps.xml" Id="R04f8ec3f7f134b7a" /><Relationship Type="http://schemas.openxmlformats.org/officeDocument/2006/relationships/tableStyles" Target="/ppt/tableStyles.xml" Id="R7b7d5b6dbce54d66" /><Relationship Type="http://schemas.microsoft.com/office/2018/10/relationships/authors" Target="/ppt/authors.xml" Id="Rc44e385264ab4aa4" /><Relationship Type="http://schemas.openxmlformats.org/officeDocument/2006/relationships/slide" Target="/ppt/slides/slide1.xml" Id="Rb1b992add6b54b35" /><Relationship Type="http://schemas.openxmlformats.org/officeDocument/2006/relationships/slide" Target="/ppt/slides/slide2.xml" Id="Rf186bd88f45e415b" /><Relationship Type="http://schemas.openxmlformats.org/officeDocument/2006/relationships/slide" Target="/ppt/slides/slide3.xml" Id="Rf1fbc60fe9024007" /><Relationship Type="http://schemas.openxmlformats.org/officeDocument/2006/relationships/slide" Target="/ppt/slides/slide4.xml" Id="Re0f237438e0e4dc6" /><Relationship Type="http://schemas.openxmlformats.org/officeDocument/2006/relationships/slide" Target="/ppt/slides/slide5.xml" Id="Rfb9dae0102a04688" /><Relationship Type="http://schemas.openxmlformats.org/officeDocument/2006/relationships/slide" Target="/ppt/slides/slide6.xml" Id="R8a341ff227a74b0b"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e94071907aad4272"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Purdue Unniversity Theme">
  <a:themeElements>
    <a:clrScheme name="Custom 1">
      <a:dk1>
        <a:srgbClr val="000000"/>
      </a:dk1>
      <a:lt1>
        <a:srgbClr val="FEFFFF"/>
      </a:lt1>
      <a:dk2>
        <a:srgbClr val="55585F"/>
      </a:dk2>
      <a:lt2>
        <a:srgbClr val="CECACB"/>
      </a:lt2>
      <a:accent1>
        <a:srgbClr val="CFB891"/>
      </a:accent1>
      <a:accent2>
        <a:srgbClr val="555960"/>
      </a:accent2>
      <a:accent3>
        <a:srgbClr val="8D6F3D"/>
      </a:accent3>
      <a:accent4>
        <a:srgbClr val="FFFFFF"/>
      </a:accent4>
      <a:accent5>
        <a:srgbClr val="DAAA00"/>
      </a:accent5>
      <a:accent6>
        <a:srgbClr val="9D9694"/>
      </a:accent6>
      <a:hlink>
        <a:srgbClr val="000000"/>
      </a:hlink>
      <a:folHlink>
        <a:srgbClr val="FEFFFF"/>
      </a:folHlink>
    </a:clrScheme>
    <a:fontScheme name="Arial">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ustom 1">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bbd71b756dde4ef5" /><Relationship Type="http://schemas.openxmlformats.org/officeDocument/2006/relationships/notesMaster" Target="/ppt/notesMasters/notesMaster1.xml" Id="Ra3aae2685fcb41a4" /></Relationships>
</file>

<file path=ppt/notesSlides/_rels/notesSlide2.xml.rels>&#65279;<?xml version="1.0" encoding="utf-8"?><Relationships xmlns="http://schemas.openxmlformats.org/package/2006/relationships"><Relationship Type="http://schemas.openxmlformats.org/officeDocument/2006/relationships/slide" Target="/ppt/slides/slide2.xml" Id="R115b83a0b0fd4f04" /><Relationship Type="http://schemas.openxmlformats.org/officeDocument/2006/relationships/notesMaster" Target="/ppt/notesMasters/notesMaster1.xml" Id="R72544da4901e4642" /></Relationships>
</file>

<file path=ppt/notesSlides/_rels/notesSlide3.xml.rels>&#65279;<?xml version="1.0" encoding="utf-8"?><Relationships xmlns="http://schemas.openxmlformats.org/package/2006/relationships"><Relationship Type="http://schemas.openxmlformats.org/officeDocument/2006/relationships/slide" Target="/ppt/slides/slide3.xml" Id="R37f345d7272546b5" /><Relationship Type="http://schemas.openxmlformats.org/officeDocument/2006/relationships/notesMaster" Target="/ppt/notesMasters/notesMaster1.xml" Id="R1d2c7a65cb0d4605" /></Relationships>
</file>

<file path=ppt/notesSlides/_rels/notesSlide4.xml.rels>&#65279;<?xml version="1.0" encoding="utf-8"?><Relationships xmlns="http://schemas.openxmlformats.org/package/2006/relationships"><Relationship Type="http://schemas.openxmlformats.org/officeDocument/2006/relationships/slide" Target="/ppt/slides/slide4.xml" Id="Rdabc9a42a84546d7" /><Relationship Type="http://schemas.openxmlformats.org/officeDocument/2006/relationships/notesMaster" Target="/ppt/notesMasters/notesMaster1.xml" Id="Rf5f515301a364386" /></Relationships>
</file>

<file path=ppt/notesSlides/_rels/notesSlide5.xml.rels>&#65279;<?xml version="1.0" encoding="utf-8"?><Relationships xmlns="http://schemas.openxmlformats.org/package/2006/relationships"><Relationship Type="http://schemas.openxmlformats.org/officeDocument/2006/relationships/slide" Target="/ppt/slides/slide5.xml" Id="R295127b8e57a43a8" /><Relationship Type="http://schemas.openxmlformats.org/officeDocument/2006/relationships/notesMaster" Target="/ppt/notesMasters/notesMaster1.xml" Id="R42f65dc449864a47" /></Relationships>
</file>

<file path=ppt/notesSlides/_rels/notesSlide6.xml.rels>&#65279;<?xml version="1.0" encoding="utf-8"?><Relationships xmlns="http://schemas.openxmlformats.org/package/2006/relationships"><Relationship Type="http://schemas.openxmlformats.org/officeDocument/2006/relationships/slide" Target="/ppt/slides/slide6.xml" Id="Reefc67cb85fb43a1" /><Relationship Type="http://schemas.openxmlformats.org/officeDocument/2006/relationships/notesMaster" Target="/ppt/notesMasters/notesMaster1.xml" Id="R317d0c4df44847ad"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TIME: 0:00–0:40 (40 s)</a:t>
            </a:r>
          </a:p>
          <a:p xmlns:a="http://schemas.openxmlformats.org/drawingml/2006/main">
            <a:r>
              <a:t/>
            </a:r>
          </a:p>
          <a:p xmlns:a="http://schemas.openxmlformats.org/drawingml/2006/main">
            <a:r>
              <a:t>SCRIPT</a:t>
            </a:r>
          </a:p>
          <a:p xmlns:a="http://schemas.openxmlformats.org/drawingml/2006/main">
            <a:r>
              <a:t>Our project is a bias voltage DAC for cryogenic solid-state qubit control. Quantum-dot gates need precise DC voltages to establish their operating points. As the number of bias channels grows, bringing every analog connection from room temperature becomes a wiring bottleneck. Moving electronics closer to the qubits helps with that scaling problem, but it puts their power consumption inside a very limited cooling budget. Our goal is a shared, low-power DAC that can generate and hold multiple precise bias voltages. The project is currently at behavioral modeling and early circuit setup.</a:t>
            </a:r>
          </a:p>
          <a:p xmlns:a="http://schemas.openxmlformats.org/drawingml/2006/main">
            <a:r>
              <a:t/>
            </a:r>
          </a:p>
          <a:p xmlns:a="http://schemas.openxmlformats.org/drawingml/2006/main">
            <a:r>
              <a:t>SOURCES</a:t>
            </a:r>
          </a:p>
          <a:p xmlns:a="http://schemas.openxmlformats.org/drawingml/2006/main">
            <a:r>
              <a:t>[1] P. Vliex et al., "Bias Voltage DAC Operating at Cryogenic Temperatures for Solid-State Qubit Applications," IEEE Solid-State Circuits Letters, vol. 3, pp. 218–221, 2020. https://doi.org/10.1109/LSSC.2020.3011576 Sections I–II.</a:t>
            </a:r>
          </a:p>
          <a:p xmlns:a="http://schemas.openxmlformats.org/drawingml/2006/main">
            <a:r>
              <a:t>AMS_Senior_Design_Pitch_Reference.docx, Section 4, Bias Voltage DAC / Cryo-CMOS (Fall 2026).</a:t>
            </a:r>
          </a:p>
          <a:p xmlns:a="http://schemas.openxmlformats.org/drawingml/2006/main">
            <a:r>
              <a:t/>
            </a:r>
          </a:p>
          <a:p xmlns:a="http://schemas.openxmlformats.org/drawingml/2006/main">
            <a:r>
              <a:t>TECHNICAL BACKUP</a:t>
            </a:r>
          </a:p>
          <a:p xmlns:a="http://schemas.openxmlformats.org/drawingml/2006/main">
            <a:r>
              <a:t>Application focus is quantum-dot spin qubits. This is a project proposal, not a claim of fabricated hardware or cryogenic measurements.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TIME: 0:40–1:25 (45 s)</a:t>
            </a:r>
          </a:p>
          <a:p xmlns:a="http://schemas.openxmlformats.org/drawingml/2006/main">
            <a:r>
              <a:t/>
            </a:r>
          </a:p>
          <a:p xmlns:a="http://schemas.openxmlformats.org/drawingml/2006/main">
            <a:r>
              <a:t>SCRIPT</a:t>
            </a:r>
          </a:p>
          <a:p xmlns:a="http://schemas.openxmlformats.org/drawingml/2006/main">
            <a:r>
              <a:t>The starting requirements come from the pitch reference and the 2020 cryogenic DAC paper. We want a zero-to-one-volt range and a thirteen-bit nominal code grid, which is about one hundred twenty-five microvolts per step. The paper adds that extra bit as margin over a twelve-bit application requirement. Eight outputs share one DAC, and each storage capacitor needs periodic refresh. Power should stay in the microwatt-per-channel range. The paper measured operation at six kelvin and reports about two-point-seven microwatts per channel in a sixty-five-nanometer process. Those are literature benchmarks, not results from our project.</a:t>
            </a:r>
          </a:p>
          <a:p xmlns:a="http://schemas.openxmlformats.org/drawingml/2006/main">
            <a:r>
              <a:t/>
            </a:r>
          </a:p>
          <a:p xmlns:a="http://schemas.openxmlformats.org/drawingml/2006/main">
            <a:r>
              <a:t>SOURCES</a:t>
            </a:r>
          </a:p>
          <a:p xmlns:a="http://schemas.openxmlformats.org/drawingml/2006/main">
            <a:r>
              <a:t>[1] P. Vliex et al., "Bias Voltage DAC Operating at Cryogenic Temperatures for Solid-State Qubit Applications," IEEE Solid-State Circuits Letters, vol. 3, pp. 218–221, 2020. https://doi.org/10.1109/LSSC.2020.3011576 Sections II, IV-C, Table II, Conclusion.</a:t>
            </a:r>
          </a:p>
          <a:p xmlns:a="http://schemas.openxmlformats.org/drawingml/2006/main">
            <a:r>
              <a:t>AMS_Senior_Design_Pitch_Reference.docx, Section 4, Bias Voltage DAC / Cryo-CMOS (Fall 2026).</a:t>
            </a:r>
          </a:p>
          <a:p xmlns:a="http://schemas.openxmlformats.org/drawingml/2006/main">
            <a:r>
              <a:t/>
            </a:r>
          </a:p>
          <a:p xmlns:a="http://schemas.openxmlformats.org/drawingml/2006/main">
            <a:r>
              <a:t>TECHNICAL BACKUP</a:t>
            </a:r>
          </a:p>
          <a:p xmlns:a="http://schemas.openxmlformats.org/drawingml/2006/main">
            <a:r>
              <a:t>1 V / 8192 = 122.07 µV. 1 V / 4096 = 244.14 µV. Nominal resolution does not establish ENOB, absolute accuracy, or measured linearity. Table II: DAC total 21.1 µW for eight channels, plus 4.3 µW clock buffer = 25.4 µW total. The ≈2.7 µW/ch headline follows the paper abstract/conclusion and excludes that separate clock-buffer contribution. Final temperature, power budget and load specification remain to be agreed. No 65 nm power projection is claimed for TSMC 180 nm.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TIME: 1:25–2:20 (55 s)</a:t>
            </a:r>
          </a:p>
          <a:p xmlns:a="http://schemas.openxmlformats.org/drawingml/2006/main">
            <a:r>
              <a:t/>
            </a:r>
          </a:p>
          <a:p xmlns:a="http://schemas.openxmlformats.org/drawingml/2006/main">
            <a:r>
              <a:t>SCRIPT</a:t>
            </a:r>
          </a:p>
          <a:p xmlns:a="http://schemas.openxmlformats.org/drawingml/2006/main">
            <a:r>
              <a:t>The starting architecture uses charge redistribution. A ten-bit fine DAC uses binary-weighted capacitors split into two subarrays, connected by an attenuation capacitor. Selecting the upper and lower references provides eight coarse regions across the one-volt range. The output then goes through a demultiplexer to one of eight storage capacitors. We omit a continuous output buffer and allow the storage voltage to settle through repeated charge-sharing events. That reduces analog overhead, although switching and digital control still consume power. The array topology is a starting point. We are also comparing plain binary and segmented alternatives before committing to the transistor-level design.</a:t>
            </a:r>
          </a:p>
          <a:p xmlns:a="http://schemas.openxmlformats.org/drawingml/2006/main">
            <a:r>
              <a:t/>
            </a:r>
          </a:p>
          <a:p xmlns:a="http://schemas.openxmlformats.org/drawingml/2006/main">
            <a:r>
              <a:t>SOURCES</a:t>
            </a:r>
          </a:p>
          <a:p xmlns:a="http://schemas.openxmlformats.org/drawingml/2006/main">
            <a:r>
              <a:t>[1] P. Vliex et al., "Bias Voltage DAC Operating at Cryogenic Temperatures for Solid-State Qubit Applications," IEEE Solid-State Circuits Letters, vol. 3, pp. 218–221, 2020. https://doi.org/10.1109/LSSC.2020.3011576 Section III, Figs. 2 and 3.</a:t>
            </a:r>
          </a:p>
          <a:p xmlns:a="http://schemas.openxmlformats.org/drawingml/2006/main">
            <a:r>
              <a:t>Project: docs/figures/cr_dac_topology.png, model/draw_cr_dac_topology.py, model/bias_dac_v2.py.</a:t>
            </a:r>
          </a:p>
          <a:p xmlns:a="http://schemas.openxmlformats.org/drawingml/2006/main">
            <a:r>
              <a:t/>
            </a:r>
          </a:p>
          <a:p xmlns:a="http://schemas.openxmlformats.org/drawingml/2006/main">
            <a:r>
              <a:t>TECHNICAL BACKUP</a:t>
            </a:r>
          </a:p>
          <a:p xmlns:a="http://schemas.openxmlformats.org/drawingml/2006/main">
            <a:r>
              <a:t>Original project schematic is reused as an image excerpt. Its parasitic capacitor, reset-to-VL choice and leakage source represent modeling assumptions/inferences. Buffer-less storage generally requires multiple refreshes to settle. The ideal capacitor core has no continuous bias-current path, but the complete system does not have zero static or total power.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TIME: 2:20–3:10 (50 s)</a:t>
            </a:r>
          </a:p>
          <a:p xmlns:a="http://schemas.openxmlformats.org/drawingml/2006/main">
            <a:r>
              <a:t/>
            </a:r>
          </a:p>
          <a:p xmlns:a="http://schemas.openxmlformats.org/drawingml/2006/main">
            <a:r>
              <a:t>SCRIPT</a:t>
            </a:r>
          </a:p>
          <a:p xmlns:a="http://schemas.openxmlformats.org/drawingml/2006/main">
            <a:r>
              <a:t>The behavioral model lets us compare nonidealities before building the full circuit. On the left, the existing mismatch sweep shows that segmented coding has lower differential nonlinearity than the split array with an attenuation capacitor under these assumptions. The paper marker is only a reference comparison. On the right, leakage pulls the held voltage away from its target between refreshes. With one picoamp of leakage and a one-picofarad storage capacitor, the modeled droop is about two hundred fifty-six microvolts per period at three-point-nine kilohertz. Faster refresh reduces droop but raises switching activity. These studies guide the architecture, but they do not yet establish silicon accuracy or cryogenic performance.</a:t>
            </a:r>
          </a:p>
          <a:p xmlns:a="http://schemas.openxmlformats.org/drawingml/2006/main">
            <a:r>
              <a:t/>
            </a:r>
          </a:p>
          <a:p xmlns:a="http://schemas.openxmlformats.org/drawingml/2006/main">
            <a:r>
              <a:t>SOURCES</a:t>
            </a:r>
          </a:p>
          <a:p xmlns:a="http://schemas.openxmlformats.org/drawingml/2006/main">
            <a:r>
              <a:t>Project: model/bias_dac_v2.py, plot_mismatch_sweep() and plot_sh_refresh(); docs/figures/v2_mismatch_sweep.png and v2_sh_refresh_leakage.png.</a:t>
            </a:r>
          </a:p>
          <a:p xmlns:a="http://schemas.openxmlformats.org/drawingml/2006/main">
            <a:r>
              <a:t>[1] P. Vliex et al., "Bias Voltage DAC Operating at Cryogenic Temperatures for Solid-State Qubit Applications," IEEE Solid-State Circuits Letters, vol. 3, pp. 218–221, 2020. https://doi.org/10.1109/LSSC.2020.3011576 Eq. (1) and Fig. 8(f), for markers already present in the project figure.</a:t>
            </a:r>
          </a:p>
          <a:p xmlns:a="http://schemas.openxmlformats.org/drawingml/2006/main">
            <a:r>
              <a:t/>
            </a:r>
          </a:p>
          <a:p xmlns:a="http://schemas.openxmlformats.org/drawingml/2006/main">
            <a:r>
              <a:t>TECHNICAL BACKUP</a:t>
            </a:r>
          </a:p>
          <a:p xmlns:a="http://schemas.openxmlformats.org/drawingml/2006/main">
            <a:r>
              <a:t>Mismatch plot uses 150 seeds at each sigma point, per the checked-in code. The plotted statistic is mean maximum absolute DNL for a 10-bit fine DAC; the paper measured sigma_D marker is a different statistic and not a direct validation. S&amp;H panel is the middle panel of the original image, retaining axes and legend. Droop per period is 256.4 µV at 3.9 kHz and 2.6 µV at 390 kHz for I/C=1 A/F. Absolute storage error can exceed one-period droop because of finite charge sharing. The model includes gain/offset and parasitic effects; switch charge injection, finite Ron, noise and a calibrated cryogenic parameter layer remain future work.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TIME: 3:10–4:10 (60 s)</a:t>
            </a:r>
          </a:p>
          <a:p xmlns:a="http://schemas.openxmlformats.org/drawingml/2006/main">
            <a:r>
              <a:t/>
            </a:r>
          </a:p>
          <a:p xmlns:a="http://schemas.openxmlformats.org/drawingml/2006/main">
            <a:r>
              <a:t>SCRIPT</a:t>
            </a:r>
          </a:p>
          <a:p xmlns:a="http://schemas.openxmlformats.org/drawingml/2006/main">
            <a:r>
              <a:t>The strongest architectural issue in the current model appears at coarse-region boundaries. Parasitic capacitance reduces the fine-DAC span. When the lower reference advances, the output jumps across a missing voltage range. In this example, the boundary jump is about eight millivolts. A gain-and-offset correction can change the code mapping, but it cannot create voltages that the hardware cannot produce. The right plot reuses the paper’s intermediate-step idea: temporarily double the reference span and insert extra levels. In the model, the largest adjacent gap falls from about sixty-six-and-a-half to one-point-nine nominal LSBs. That is promising, but the intermediate region has coarser spacing, and full-scale coverage still needs work.</a:t>
            </a:r>
          </a:p>
          <a:p xmlns:a="http://schemas.openxmlformats.org/drawingml/2006/main">
            <a:r>
              <a:t/>
            </a:r>
          </a:p>
          <a:p xmlns:a="http://schemas.openxmlformats.org/drawingml/2006/main">
            <a:r>
              <a:t>SOURCES</a:t>
            </a:r>
          </a:p>
          <a:p xmlns:a="http://schemas.openxmlformats.org/drawingml/2006/main">
            <a:r>
              <a:t>Project: docs/figures/v2_coarse_jump_compensation.png; model/bias_dac_v2.py, plot_coarse_jump_and_compensation(), intermediate_sequence(), coverage().</a:t>
            </a:r>
          </a:p>
          <a:p xmlns:a="http://schemas.openxmlformats.org/drawingml/2006/main">
            <a:r>
              <a:t>[1] P. Vliex et al., "Bias Voltage DAC Operating at Cryogenic Temperatures for Solid-State Qubit Applications," IEEE Solid-State Circuits Letters, vol. 3, pp. 218–221, 2020. https://doi.org/10.1109/LSSC.2020.3011576 Section IV-C and Fig. 9.</a:t>
            </a:r>
          </a:p>
          <a:p xmlns:a="http://schemas.openxmlformats.org/drawingml/2006/main">
            <a:r>
              <a:t/>
            </a:r>
          </a:p>
          <a:p xmlns:a="http://schemas.openxmlformats.org/drawingml/2006/main">
            <a:r>
              <a:t>TECHNICAL BACKUP</a:t>
            </a:r>
          </a:p>
          <a:p xmlns:a="http://schemas.openxmlformats.org/drawingml/2006/main">
            <a:r>
              <a:t>These are project behavioral simulations, not reproduction of measured silicon. The two plotted panels are reused from the original figure. α=0.064 is a paper-informed modeling point, not an extracted 180 nm parasitic. Plot (a) uses DAC input word; plot (b) uses sequence index after added settings. Maximum adjacent achievable-voltage gap: 66.5 LSB before and 1.9 LSB after intermediate steps. That metric does not include missing full-scale endpoint coverage. The repo’s target-distance plot shows a remaining top-of-range error near 1 V, so do not claim &lt;1 LSB accuracy over the complete range. Nominal 13-bit LSB =122.07 µV; the inserted settings use a 250 mV reference span.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TIME: 4:10–5:00 (50 s)</a:t>
            </a:r>
          </a:p>
          <a:p xmlns:a="http://schemas.openxmlformats.org/drawingml/2006/main">
            <a:r>
              <a:t/>
            </a:r>
          </a:p>
          <a:p xmlns:a="http://schemas.openxmlformats.org/drawingml/2006/main">
            <a:r>
              <a:t>SCRIPT</a:t>
            </a:r>
          </a:p>
          <a:p xmlns:a="http://schemas.openxmlformats.org/drawingml/2006/main">
            <a:r>
              <a:t>The next step is to turn these model findings into a circuit design. First, we will combine intermediate steps or intentional region overlap with digital gain-and-offset compensation, including the endpoint coverage. Second, we will compare capacitor coding options using the same accuracy and capacitance budgets. Third, we will move into TSMC one-eighty-nanometer Cadence schematics, simulation, layout and extraction. That stage must quantify switch settling, charge injection, storage leakage, and temperature-dependent device shifts. The cryogenic checks will depend on model availability. Success means demonstrating the required bias coverage with a refresh rate and power budget that we can justify from the circuit.</a:t>
            </a:r>
          </a:p>
          <a:p xmlns:a="http://schemas.openxmlformats.org/drawingml/2006/main">
            <a:r>
              <a:t/>
            </a:r>
          </a:p>
          <a:p xmlns:a="http://schemas.openxmlformats.org/drawingml/2006/main">
            <a:r>
              <a:t>SOURCES</a:t>
            </a:r>
          </a:p>
          <a:p xmlns:a="http://schemas.openxmlformats.org/drawingml/2006/main">
            <a:r>
              <a:t>Project: docs/phase2_cryo_architecture_research.md, Sections 7–10; spice/README.md; model/bias_dac_v2.py.</a:t>
            </a:r>
          </a:p>
          <a:p xmlns:a="http://schemas.openxmlformats.org/drawingml/2006/main">
            <a:r>
              <a:t>AMS_Senior_Design_Pitch_Reference.docx, Section 4, Bias Voltage DAC / Cryo-CMOS (Fall 2026).</a:t>
            </a:r>
          </a:p>
          <a:p xmlns:a="http://schemas.openxmlformats.org/drawingml/2006/main">
            <a:r>
              <a:t>TSMC 180 nm Cadence implementation is the user-specified project direction.</a:t>
            </a:r>
          </a:p>
          <a:p xmlns:a="http://schemas.openxmlformats.org/drawingml/2006/main">
            <a:r>
              <a:t/>
            </a:r>
          </a:p>
          <a:p xmlns:a="http://schemas.openxmlformats.org/drawingml/2006/main">
            <a:r>
              <a:t>TECHNICAL BACKUP</a:t>
            </a:r>
          </a:p>
          <a:p xmlns:a="http://schemas.openxmlformats.org/drawingml/2006/main">
            <a:r>
              <a:t>Checked-in SPICE files currently use ideal switches and behavioral sources; README marks them unverified by simulation. Do not describe them as completed transistor-level validation. Charge injection, switch Ron, noise, cryogenic parameter shifts, and post-layout parasitics require additional modeling or circuit evaluation. Standard PDK corners alone do not establish operation at 6 K. Retain temperature and leakage sensitivity studies if validated cryogenic compact models are unavailable.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effdc70428b9453f" /><Relationship Type="http://schemas.openxmlformats.org/officeDocument/2006/relationships/image" Target="/ppt/media/image.png" Id="R8ee1903b524e4d00"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d404a44c56eb49c7" /><Relationship Type="http://schemas.openxmlformats.org/officeDocument/2006/relationships/image" Target="/ppt/media/image2.png" Id="R2b33a130ecc244c7" /></Relationships>
</file>

<file path=ppt/slideLayouts/slideLayout1.xml><?xml version="1.0" encoding="utf-8"?>
<p:sldLayout xmlns:p="http://schemas.openxmlformats.org/presentationml/2006/main" preserve="1" userDrawn="1">
  <p:cSld name="BodySlide-White-TopLogo">
    <p:spTree>
      <p:nvGrpSpPr>
        <p:cNvPr id="1" name=""/>
        <p:cNvGrpSpPr/>
        <p:nvPr/>
      </p:nvGrpSpPr>
      <p:grpSpPr>
        <a:xfrm xmlns:a="http://schemas.openxmlformats.org/drawingml/2006/main"/>
      </p:grpSpPr>
      <p:sp>
        <p:nvSpPr>
          <p:cNvPr id="8" name="Straight Connector 7">
            <a:extLst xmlns:a="http://schemas.openxmlformats.org/drawingml/2006/main">
              <a:ext uri="{FF2B5EF4-FFF2-40B4-BE49-F238E27FC236}">
                <a16:creationId xmlns:a16="http://schemas.microsoft.com/office/drawing/2014/main" id="{A2A38340-27A3-4266-A2FA-90EBE9F41F75}"/>
              </a:ext>
            </a:extLst>
          </p:cNvPr>
          <p:cNvSpPr>
            <a:spLocks xmlns:a="http://schemas.openxmlformats.org/drawingml/2006/main" noGrp="1"/>
          </p:cNvSpPr>
          <p:nvPr/>
        </p:nvSpPr>
        <p:spPr>
          <a:xfrm xmlns:a="http://schemas.openxmlformats.org/drawingml/2006/main" flipH="1">
            <a:off x="446468" y="383880"/>
            <a:ext cx="8651812" cy="11359"/>
          </a:xfrm>
          <a:prstGeom xmlns:a="http://schemas.openxmlformats.org/drawingml/2006/main" prst="line">
            <a:avLst/>
          </a:prstGeom>
          <a:ln xmlns:a="http://schemas.openxmlformats.org/drawingml/2006/main" w="28575">
            <a:solidFill>
              <a:schemeClr val="accent3"/>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6" name="Straight Connector 5">
            <a:extLst xmlns:a="http://schemas.openxmlformats.org/drawingml/2006/main">
              <a:ext uri="{FF2B5EF4-FFF2-40B4-BE49-F238E27FC236}">
                <a16:creationId xmlns:a16="http://schemas.microsoft.com/office/drawing/2014/main" id="{F597A494-906A-4981-8C44-F4FADD05B9D9}"/>
              </a:ext>
            </a:extLst>
          </p:cNvPr>
          <p:cNvSpPr>
            <a:spLocks xmlns:a="http://schemas.openxmlformats.org/drawingml/2006/main" noGrp="1"/>
          </p:cNvSpPr>
          <p:nvPr/>
        </p:nvSpPr>
        <p:spPr>
          <a:xfrm xmlns:a="http://schemas.openxmlformats.org/drawingml/2006/main" flipH="1">
            <a:off x="446468" y="6483231"/>
            <a:ext cx="10738263" cy="0"/>
          </a:xfrm>
          <a:prstGeom xmlns:a="http://schemas.openxmlformats.org/drawingml/2006/main" prst="line">
            <a:avLst/>
          </a:prstGeom>
          <a:ln xmlns:a="http://schemas.openxmlformats.org/drawingml/2006/main" w="28575">
            <a:solidFill>
              <a:schemeClr val="accent3"/>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pic>
        <p:nvPicPr>
          <p:cNvPr id="27" name="Picture 3"/>
          <p:cNvPicPr>
            <a:picLocks xmlns:a="http://schemas.openxmlformats.org/drawingml/2006/main" noChangeAspect="1"/>
          </p:cNvPicPr>
          <p:nvPr/>
        </p:nvPicPr>
        <p:blipFill>
          <a:blip xmlns:r="http://schemas.openxmlformats.org/officeDocument/2006/relationships" xmlns:a="http://schemas.openxmlformats.org/drawingml/2006/main" r:embed="R8ee1903b524e4d00"/>
          <a:stretch xmlns:a="http://schemas.openxmlformats.org/drawingml/2006/main">
            <a:fillRect l="0" t="0" r="0" b="0"/>
          </a:stretch>
        </p:blipFill>
        <p:spPr>
          <a:xfrm xmlns:a="http://schemas.openxmlformats.org/drawingml/2006/main">
            <a:off x="9615698" y="356067"/>
            <a:ext cx="2129834" cy="381235"/>
          </a:xfrm>
          <a:prstGeom xmlns:a="http://schemas.openxmlformats.org/drawingml/2006/main" prst="rect">
            <a:avLst/>
          </a:prstGeom>
        </p:spPr>
      </p:pic>
    </p:spTree>
  </p:cSld>
</p:sldLayout>
</file>

<file path=ppt/slideLayouts/slideLayout2.xml><?xml version="1.0" encoding="utf-8"?>
<p:sldLayout xmlns:p="http://schemas.openxmlformats.org/presentationml/2006/main" preserve="1" userDrawn="1">
  <p:cSld name="BodySlide-Blk-TopLogo">
    <p:bg>
      <p:bgPr>
        <a:solidFill xmlns:a="http://schemas.openxmlformats.org/drawingml/2006/main">
          <a:schemeClr val="tx1"/>
        </a:solidFill>
      </p:bgPr>
    </p:bg>
    <p:spTree>
      <p:nvGrpSpPr>
        <p:cNvPr id="1" name=""/>
        <p:cNvGrpSpPr/>
        <p:nvPr/>
      </p:nvGrpSpPr>
      <p:grpSpPr>
        <a:xfrm xmlns:a="http://schemas.openxmlformats.org/drawingml/2006/main"/>
      </p:grpSpPr>
      <p:sp>
        <p:nvSpPr>
          <p:cNvPr id="8" name="Straight Connector 7">
            <a:extLst xmlns:a="http://schemas.openxmlformats.org/drawingml/2006/main">
              <a:ext uri="{FF2B5EF4-FFF2-40B4-BE49-F238E27FC236}">
                <a16:creationId xmlns:a16="http://schemas.microsoft.com/office/drawing/2014/main" id="{0F1B301F-3CE2-4EEE-AD8D-155323FC8B7C}"/>
              </a:ext>
            </a:extLst>
          </p:cNvPr>
          <p:cNvSpPr>
            <a:spLocks xmlns:a="http://schemas.openxmlformats.org/drawingml/2006/main" noGrp="1"/>
          </p:cNvSpPr>
          <p:nvPr/>
        </p:nvSpPr>
        <p:spPr>
          <a:xfrm xmlns:a="http://schemas.openxmlformats.org/drawingml/2006/main" flipH="1">
            <a:off x="446468" y="383880"/>
            <a:ext cx="8651812" cy="11359"/>
          </a:xfrm>
          <a:prstGeom xmlns:a="http://schemas.openxmlformats.org/drawingml/2006/main" prst="line">
            <a:avLst/>
          </a:prstGeom>
          <a:ln xmlns:a="http://schemas.openxmlformats.org/drawingml/2006/main" w="28575">
            <a:solidFill>
              <a:schemeClr val="accent1"/>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4" name="Straight Connector 3">
            <a:extLst xmlns:a="http://schemas.openxmlformats.org/drawingml/2006/main">
              <a:ext uri="{FF2B5EF4-FFF2-40B4-BE49-F238E27FC236}">
                <a16:creationId xmlns:a16="http://schemas.microsoft.com/office/drawing/2014/main" id="{5AF8477A-7F1D-45FE-A65C-B9EC94222C1C}"/>
              </a:ext>
            </a:extLst>
          </p:cNvPr>
          <p:cNvSpPr>
            <a:spLocks xmlns:a="http://schemas.openxmlformats.org/drawingml/2006/main" noGrp="1"/>
          </p:cNvSpPr>
          <p:nvPr/>
        </p:nvSpPr>
        <p:spPr>
          <a:xfrm xmlns:a="http://schemas.openxmlformats.org/drawingml/2006/main" flipH="1">
            <a:off x="446468" y="6483231"/>
            <a:ext cx="10738263" cy="0"/>
          </a:xfrm>
          <a:prstGeom xmlns:a="http://schemas.openxmlformats.org/drawingml/2006/main" prst="line">
            <a:avLst/>
          </a:prstGeom>
          <a:ln xmlns:a="http://schemas.openxmlformats.org/drawingml/2006/main" w="28575">
            <a:solidFill>
              <a:schemeClr val="accent1"/>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pic>
        <p:nvPicPr>
          <p:cNvPr id="15" name="Picture 12"/>
          <p:cNvPicPr>
            <a:picLocks xmlns:a="http://schemas.openxmlformats.org/drawingml/2006/main" noChangeAspect="1"/>
          </p:cNvPicPr>
          <p:nvPr/>
        </p:nvPicPr>
        <p:blipFill>
          <a:blip xmlns:r="http://schemas.openxmlformats.org/officeDocument/2006/relationships" xmlns:a="http://schemas.openxmlformats.org/drawingml/2006/main" r:embed="R2b33a130ecc244c7"/>
          <a:stretch xmlns:a="http://schemas.openxmlformats.org/drawingml/2006/main">
            <a:fillRect l="0" t="0" r="0" b="0"/>
          </a:stretch>
        </p:blipFill>
        <p:spPr>
          <a:xfrm xmlns:a="http://schemas.openxmlformats.org/drawingml/2006/main">
            <a:off x="9615699" y="347215"/>
            <a:ext cx="2129834" cy="383319"/>
          </a:xfrm>
          <a:prstGeom xmlns:a="http://schemas.openxmlformats.org/drawingml/2006/main" prst="rect">
            <a:avLst/>
          </a:prstGeom>
        </p:spPr>
      </p:pic>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0f7be481639d4a1c" /><Relationship Type="http://schemas.openxmlformats.org/officeDocument/2006/relationships/slideLayout" Target="/ppt/slideLayouts/slideLayout1.xml" Id="R5fd2d3cd94e04e74" /><Relationship Type="http://schemas.openxmlformats.org/officeDocument/2006/relationships/slideLayout" Target="/ppt/slideLayouts/slideLayout2.xml" Id="R816a112b2a4346c1" /></Relationships>
</file>

<file path=ppt/slideMasters/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5fd2d3cd94e04e74"/>
    <p:sldLayoutId xmlns:r="http://schemas.openxmlformats.org/officeDocument/2006/relationships" id="2147483650" r:id="R816a112b2a4346c1"/>
  </p:sldLayoutIdLst>
  <p:hf hdr="0" ftr="0" dt="0"/>
  <p:txStyles>
    <p:titleStyle>
      <a:lvl1pPr xmlns:a="http://schemas.openxmlformats.org/drawingml/2006/main" algn="l" defTabSz="914400">
        <a:lnSpc>
          <a:spcPct val="90000"/>
        </a:lnSpc>
        <a:spcBef>
          <a:spcPct val="0"/>
        </a:spcBef>
        <a:buNone/>
        <a:defRPr sz="3200" b="1" i="0" kern="1200" cap="none" baseline="0">
          <a:solidFill>
            <a:schemeClr val="tx1"/>
          </a:solidFill>
          <a:latin typeface="Acumin Pro"/>
          <a:ea typeface="Acumin Pro"/>
          <a:cs typeface="Acumin Pro"/>
        </a:defRPr>
      </a:lvl1pPr>
    </p:titleStyle>
    <p:bodyStyle>
      <a:lvl1pPr xmlns:a="http://schemas.openxmlformats.org/drawingml/2006/main" marL="228600" indent="-228600" algn="l" defTabSz="914400">
        <a:lnSpc>
          <a:spcPct val="90000"/>
        </a:lnSpc>
        <a:spcBef>
          <a:spcPts val="1000"/>
        </a:spcBef>
        <a:buFont typeface="Wingdings"/>
        <a:buChar char="§"/>
        <a:defRPr sz="2000" b="0" i="0" kern="1200" baseline="0">
          <a:solidFill>
            <a:schemeClr val="tx1"/>
          </a:solidFill>
          <a:latin typeface="Acumin Pro"/>
          <a:ea typeface="Acumin Pro"/>
          <a:cs typeface="Acumin Pro"/>
        </a:defRPr>
      </a:lvl1pPr>
      <a:lvl2pPr xmlns:a="http://schemas.openxmlformats.org/drawingml/2006/main" marL="685800" indent="-228600" algn="l" defTabSz="914400">
        <a:lnSpc>
          <a:spcPct val="90000"/>
        </a:lnSpc>
        <a:spcBef>
          <a:spcPts val="500"/>
        </a:spcBef>
        <a:buFont typeface="Wingdings"/>
        <a:buChar char="§"/>
        <a:defRPr sz="1800" b="0" i="0" kern="1200" baseline="0">
          <a:solidFill>
            <a:schemeClr val="tx1"/>
          </a:solidFill>
          <a:latin typeface="Acumin Pro"/>
          <a:ea typeface="Acumin Pro"/>
          <a:cs typeface="Acumin Pro"/>
        </a:defRPr>
      </a:lvl2pPr>
      <a:lvl3pPr xmlns:a="http://schemas.openxmlformats.org/drawingml/2006/main" marL="1143000" indent="-228600" algn="l" defTabSz="914400">
        <a:lnSpc>
          <a:spcPct val="90000"/>
        </a:lnSpc>
        <a:spcBef>
          <a:spcPts val="500"/>
        </a:spcBef>
        <a:buFont typeface="Wingdings"/>
        <a:buChar char="§"/>
        <a:defRPr sz="1600" b="0" i="0" kern="1200" baseline="0">
          <a:solidFill>
            <a:schemeClr val="tx1"/>
          </a:solidFill>
          <a:latin typeface="Acumin Pro"/>
          <a:ea typeface="Acumin Pro"/>
          <a:cs typeface="Acumin Pro"/>
        </a:defRPr>
      </a:lvl3pPr>
      <a:lvl4pPr xmlns:a="http://schemas.openxmlformats.org/drawingml/2006/main" marL="1600200" indent="-228600" algn="l" defTabSz="914400">
        <a:lnSpc>
          <a:spcPct val="90000"/>
        </a:lnSpc>
        <a:spcBef>
          <a:spcPts val="500"/>
        </a:spcBef>
        <a:buFont typeface="Wingdings"/>
        <a:buChar char="§"/>
        <a:defRPr sz="1500" b="0" i="0" kern="1200" baseline="0">
          <a:solidFill>
            <a:schemeClr val="tx1"/>
          </a:solidFill>
          <a:latin typeface="Acumin Pro"/>
          <a:ea typeface="Acumin Pro"/>
          <a:cs typeface="Acumin Pro"/>
        </a:defRPr>
      </a:lvl4pPr>
      <a:lvl5pPr xmlns:a="http://schemas.openxmlformats.org/drawingml/2006/main" marL="2057400" indent="-228600" algn="l" defTabSz="914400">
        <a:lnSpc>
          <a:spcPct val="90000"/>
        </a:lnSpc>
        <a:spcBef>
          <a:spcPts val="500"/>
        </a:spcBef>
        <a:buFont typeface="Wingdings"/>
        <a:buChar char="§"/>
        <a:defRPr sz="1400" b="0" i="0" kern="1200" baseline="0">
          <a:solidFill>
            <a:schemeClr val="tx1"/>
          </a:solidFill>
          <a:latin typeface="Acumin Pro"/>
          <a:ea typeface="Acumin Pro"/>
          <a:cs typeface="Acumin Pro"/>
        </a:defRPr>
      </a:lvl5pPr>
      <a:lvl6pPr xmlns:a="http://schemas.openxmlformats.org/drawingml/2006/main"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xmlns:a="http://schemas.openxmlformats.org/drawingml/2006/main"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xmlns:a="http://schemas.openxmlformats.org/drawingml/2006/main"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xmlns:a="http://schemas.openxmlformats.org/drawingml/2006/main" marL="3886200" indent="-228600" algn="l" defTabSz="914400">
        <a:lnSpc>
          <a:spcPct val="90000"/>
        </a:lnSpc>
        <a:spcBef>
          <a:spcPts val="500"/>
        </a:spcBef>
        <a:buFont typeface="Arial"/>
        <a:buChar char="•"/>
        <a:defRPr sz="18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Purdue Unniversity Theme">
  <a:themeElements>
    <a:clrScheme name="Custom 1">
      <a:dk1>
        <a:srgbClr val="000000"/>
      </a:dk1>
      <a:lt1>
        <a:srgbClr val="FEFFFF"/>
      </a:lt1>
      <a:dk2>
        <a:srgbClr val="55585F"/>
      </a:dk2>
      <a:lt2>
        <a:srgbClr val="CECACB"/>
      </a:lt2>
      <a:accent1>
        <a:srgbClr val="CFB891"/>
      </a:accent1>
      <a:accent2>
        <a:srgbClr val="555960"/>
      </a:accent2>
      <a:accent3>
        <a:srgbClr val="8D6F3D"/>
      </a:accent3>
      <a:accent4>
        <a:srgbClr val="FFFFFF"/>
      </a:accent4>
      <a:accent5>
        <a:srgbClr val="DAAA00"/>
      </a:accent5>
      <a:accent6>
        <a:srgbClr val="9D9694"/>
      </a:accent6>
      <a:hlink>
        <a:srgbClr val="000000"/>
      </a:hlink>
      <a:folHlink>
        <a:srgbClr val="FEFFFF"/>
      </a:folHlink>
    </a:clrScheme>
    <a:fontScheme name="Arial">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ustom 1">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2.xml" Id="R0808a957842b4f5e" /><Relationship Type="http://schemas.openxmlformats.org/officeDocument/2006/relationships/notesSlide" Target="/ppt/notesSlides/notesSlide1.xml" Id="Rf00d5fe3b347481d"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75a92a93264f41a0" /><Relationship Type="http://schemas.openxmlformats.org/officeDocument/2006/relationships/notesSlide" Target="/ppt/notesSlides/notesSlide2.xml" Id="R39d9cc073cde4714"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954e9a27cdc64134" /><Relationship Type="http://schemas.openxmlformats.org/officeDocument/2006/relationships/image" Target="/ppt/media/image3.png" Id="Rcf75f18795384532" /><Relationship Type="http://schemas.openxmlformats.org/officeDocument/2006/relationships/notesSlide" Target="/ppt/notesSlides/notesSlide3.xml" Id="R4ed2025c60194e68"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d3f6246badbf4d45" /><Relationship Type="http://schemas.openxmlformats.org/officeDocument/2006/relationships/image" Target="/ppt/media/image4.png" Id="Rddba47d111ce4494" /><Relationship Type="http://schemas.openxmlformats.org/officeDocument/2006/relationships/image" Target="/ppt/media/image5.png" Id="Re7f3d092a3b54187" /><Relationship Type="http://schemas.openxmlformats.org/officeDocument/2006/relationships/notesSlide" Target="/ppt/notesSlides/notesSlide4.xml" Id="R5da6a886b51545ae"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5e9213eb7cc34ea4" /><Relationship Type="http://schemas.openxmlformats.org/officeDocument/2006/relationships/image" Target="/ppt/media/image6.png" Id="R33ac764d1a534768" /><Relationship Type="http://schemas.openxmlformats.org/officeDocument/2006/relationships/notesSlide" Target="/ppt/notesSlides/notesSlide5.xml" Id="R880d4a2e5a164161" /></Relationships>
</file>

<file path=ppt/slides/_rels/slide6.xml.rels>&#65279;<?xml version="1.0" encoding="utf-8"?><Relationships xmlns="http://schemas.openxmlformats.org/package/2006/relationships"><Relationship Type="http://schemas.openxmlformats.org/officeDocument/2006/relationships/slideLayout" Target="/ppt/slideLayouts/slideLayout2.xml" Id="R6644e3afd1934856" /><Relationship Type="http://schemas.openxmlformats.org/officeDocument/2006/relationships/notesSlide" Target="/ppt/notesSlides/notesSlide6.xml" Id="R33b2870d523d4131" /></Relationships>
</file>

<file path=ppt/slides/slide1.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10" name="Title">
            <a:extLst xmlns:a="http://schemas.openxmlformats.org/drawingml/2006/main">
              <a:ext uri="{FF2B5EF4-FFF2-40B4-BE49-F238E27FC236}">
                <a16:creationId xmlns:a16="http://schemas.microsoft.com/office/drawing/2014/main" id="{D70052AD-C438-4403-A3A5-47195CD316E1}"/>
              </a:ext>
            </a:extLst>
          </p:cNvPr>
          <p:cNvSpPr>
            <a:spLocks xmlns:a="http://schemas.openxmlformats.org/drawingml/2006/main" noGrp="1"/>
          </p:cNvSpPr>
          <p:nvPr/>
        </p:nvSpPr>
        <p:spPr>
          <a:xfrm xmlns:a="http://schemas.openxmlformats.org/drawingml/2006/main">
            <a:off x="457200" y="628650"/>
            <a:ext cx="111252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150" b="1">
                <a:solidFill>
                  <a:srgbClr val="FFFFFF"/>
                </a:solidFill>
                <a:latin typeface="Arial"/>
                <a:ea typeface="Arial"/>
                <a:cs typeface="Arial"/>
              </a:defRPr>
            </a:pPr>
            <a:r>
              <a:rPr sz="3150" b="1">
                <a:solidFill>
                  <a:srgbClr val="FFFFFF"/>
                </a:solidFill>
                <a:latin typeface="Arial"/>
                <a:ea typeface="Arial"/>
                <a:cs typeface="Arial"/>
              </a:rPr>
              <a:t>Bias Voltage DAC</a:t>
            </a:r>
          </a:p>
        </p:txBody>
      </p:sp>
      <p:sp>
        <p:nvSpPr>
          <p:cNvPr id="2" name="Subtitle">
            <a:extLst xmlns:a="http://schemas.openxmlformats.org/drawingml/2006/main">
              <a:ext uri="{FF2B5EF4-FFF2-40B4-BE49-F238E27FC236}">
                <a16:creationId xmlns:a16="http://schemas.microsoft.com/office/drawing/2014/main" id="{0C02E601-E8EA-46A9-8175-5A95FD6BEFE4}"/>
              </a:ext>
            </a:extLst>
          </p:cNvPr>
          <p:cNvSpPr>
            <a:spLocks xmlns:a="http://schemas.openxmlformats.org/drawingml/2006/main" noGrp="1"/>
          </p:cNvSpPr>
          <p:nvPr/>
        </p:nvSpPr>
        <p:spPr>
          <a:xfrm xmlns:a="http://schemas.openxmlformats.org/drawingml/2006/main">
            <a:off x="457200" y="1333500"/>
            <a:ext cx="111252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0">
                <a:solidFill>
                  <a:srgbClr val="CFB991"/>
                </a:solidFill>
                <a:latin typeface="Arial"/>
                <a:ea typeface="Arial"/>
                <a:cs typeface="Arial"/>
              </a:defRPr>
            </a:pPr>
            <a:r>
              <a:rPr sz="1800" b="0">
                <a:solidFill>
                  <a:srgbClr val="CFB991"/>
                </a:solidFill>
                <a:latin typeface="Arial"/>
                <a:ea typeface="Arial"/>
                <a:cs typeface="Arial"/>
              </a:rPr>
              <a:t>Purdue SoCET Senior Design  /  Problem Pitch  /  Fall 2026</a:t>
            </a:r>
          </a:p>
        </p:txBody>
      </p:sp>
      <p:sp>
        <p:nvSpPr>
          <p:cNvPr id="3" name="text">
            <a:extLst xmlns:a="http://schemas.openxmlformats.org/drawingml/2006/main">
              <a:ext uri="{FF2B5EF4-FFF2-40B4-BE49-F238E27FC236}">
                <a16:creationId xmlns:a16="http://schemas.microsoft.com/office/drawing/2014/main" id="{CB9DE036-5446-41EE-94A7-AE7525E59C98}"/>
              </a:ext>
            </a:extLst>
          </p:cNvPr>
          <p:cNvSpPr>
            <a:spLocks xmlns:a="http://schemas.openxmlformats.org/drawingml/2006/main" noGrp="1"/>
          </p:cNvSpPr>
          <p:nvPr/>
        </p:nvSpPr>
        <p:spPr>
          <a:xfrm xmlns:a="http://schemas.openxmlformats.org/drawingml/2006/main">
            <a:off x="11372850" y="6457950"/>
            <a:ext cx="4000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050" b="0">
                <a:solidFill>
                  <a:srgbClr val="CFB991"/>
                </a:solidFill>
                <a:latin typeface="Arial"/>
                <a:ea typeface="Arial"/>
                <a:cs typeface="Arial"/>
              </a:defRPr>
            </a:pPr>
            <a:r>
              <a:rPr sz="1050" b="0">
                <a:solidFill>
                  <a:srgbClr val="CFB991"/>
                </a:solidFill>
                <a:latin typeface="Arial"/>
                <a:ea typeface="Arial"/>
                <a:cs typeface="Arial"/>
              </a:rPr>
              <a:t>1</a:t>
            </a:r>
          </a:p>
        </p:txBody>
      </p:sp>
      <p:sp>
        <p:nvSpPr>
          <p:cNvPr id="4" name="text">
            <a:extLst xmlns:a="http://schemas.openxmlformats.org/drawingml/2006/main">
              <a:ext uri="{FF2B5EF4-FFF2-40B4-BE49-F238E27FC236}">
                <a16:creationId xmlns:a16="http://schemas.microsoft.com/office/drawing/2014/main" id="{97871720-4743-49CD-80F2-A1444936A45D}"/>
              </a:ext>
            </a:extLst>
          </p:cNvPr>
          <p:cNvSpPr>
            <a:spLocks xmlns:a="http://schemas.openxmlformats.org/drawingml/2006/main" noGrp="1"/>
          </p:cNvSpPr>
          <p:nvPr/>
        </p:nvSpPr>
        <p:spPr>
          <a:xfrm xmlns:a="http://schemas.openxmlformats.org/drawingml/2006/main">
            <a:off x="457200" y="2095500"/>
            <a:ext cx="10668000" cy="1314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4200" b="1">
                <a:solidFill>
                  <a:srgbClr val="FFFFFF"/>
                </a:solidFill>
                <a:latin typeface="Arial"/>
                <a:ea typeface="Arial"/>
                <a:cs typeface="Arial"/>
              </a:defRPr>
            </a:pPr>
            <a:r>
              <a:rPr sz="4200" b="1">
                <a:solidFill>
                  <a:srgbClr val="FFFFFF"/>
                </a:solidFill>
                <a:latin typeface="Arial"/>
                <a:ea typeface="Arial"/>
                <a:cs typeface="Arial"/>
              </a:rPr>
              <a:t>Precision DC bias for</a:t>
            </a:r>
          </a:p>
          <a:p xmlns:a="http://schemas.openxmlformats.org/drawingml/2006/main">
            <a:pPr>
              <a:defRPr sz="4200" b="1">
                <a:solidFill>
                  <a:srgbClr val="FFFFFF"/>
                </a:solidFill>
                <a:latin typeface="Arial"/>
                <a:ea typeface="Arial"/>
                <a:cs typeface="Arial"/>
              </a:defRPr>
            </a:pPr>
            <a:r>
              <a:rPr sz="4200" b="1">
                <a:solidFill>
                  <a:srgbClr val="FFFFFF"/>
                </a:solidFill>
                <a:latin typeface="Arial"/>
                <a:ea typeface="Arial"/>
                <a:cs typeface="Arial"/>
              </a:rPr>
              <a:t>solid-state qubits</a:t>
            </a:r>
          </a:p>
        </p:txBody>
      </p:sp>
      <p:sp>
        <p:nvSpPr>
          <p:cNvPr id="5" name="text">
            <a:extLst xmlns:a="http://schemas.openxmlformats.org/drawingml/2006/main">
              <a:ext uri="{FF2B5EF4-FFF2-40B4-BE49-F238E27FC236}">
                <a16:creationId xmlns:a16="http://schemas.microsoft.com/office/drawing/2014/main" id="{DC3CE289-7F2F-49A2-B775-537C83BC34E1}"/>
              </a:ext>
            </a:extLst>
          </p:cNvPr>
          <p:cNvSpPr>
            <a:spLocks xmlns:a="http://schemas.openxmlformats.org/drawingml/2006/main" noGrp="1"/>
          </p:cNvSpPr>
          <p:nvPr/>
        </p:nvSpPr>
        <p:spPr>
          <a:xfrm xmlns:a="http://schemas.openxmlformats.org/drawingml/2006/main">
            <a:off x="476250" y="3876675"/>
            <a:ext cx="4762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400" b="1">
                <a:solidFill>
                  <a:srgbClr val="CFB991"/>
                </a:solidFill>
                <a:latin typeface="Arial"/>
                <a:ea typeface="Arial"/>
                <a:cs typeface="Arial"/>
              </a:defRPr>
            </a:pPr>
            <a:r>
              <a:rPr sz="2400" b="1">
                <a:solidFill>
                  <a:srgbClr val="CFB991"/>
                </a:solidFill>
                <a:latin typeface="Arial"/>
                <a:ea typeface="Arial"/>
                <a:cs typeface="Arial"/>
              </a:rPr>
              <a:t>More bias channels</a:t>
            </a:r>
          </a:p>
        </p:txBody>
      </p:sp>
      <p:sp>
        <p:nvSpPr>
          <p:cNvPr id="6" name="text">
            <a:extLst xmlns:a="http://schemas.openxmlformats.org/drawingml/2006/main">
              <a:ext uri="{FF2B5EF4-FFF2-40B4-BE49-F238E27FC236}">
                <a16:creationId xmlns:a16="http://schemas.microsoft.com/office/drawing/2014/main" id="{C25A943B-07B6-4ABB-9284-2B47474A47B7}"/>
              </a:ext>
            </a:extLst>
          </p:cNvPr>
          <p:cNvSpPr>
            <a:spLocks xmlns:a="http://schemas.openxmlformats.org/drawingml/2006/main" noGrp="1"/>
          </p:cNvSpPr>
          <p:nvPr/>
        </p:nvSpPr>
        <p:spPr>
          <a:xfrm xmlns:a="http://schemas.openxmlformats.org/drawingml/2006/main">
            <a:off x="476250" y="4400550"/>
            <a:ext cx="49053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00" b="0">
                <a:solidFill>
                  <a:srgbClr val="FFFFFF"/>
                </a:solidFill>
                <a:latin typeface="Arial"/>
                <a:ea typeface="Arial"/>
                <a:cs typeface="Arial"/>
              </a:defRPr>
            </a:pPr>
            <a:r>
              <a:rPr sz="2100" b="0">
                <a:solidFill>
                  <a:srgbClr val="FFFFFF"/>
                </a:solidFill>
                <a:latin typeface="Arial"/>
                <a:ea typeface="Arial"/>
                <a:cs typeface="Arial"/>
              </a:rPr>
              <a:t>Room-temperature wiring becomes</a:t>
            </a:r>
          </a:p>
          <a:p xmlns:a="http://schemas.openxmlformats.org/drawingml/2006/main">
            <a:pPr>
              <a:defRPr sz="2100" b="0">
                <a:solidFill>
                  <a:srgbClr val="FFFFFF"/>
                </a:solidFill>
                <a:latin typeface="Arial"/>
                <a:ea typeface="Arial"/>
                <a:cs typeface="Arial"/>
              </a:defRPr>
            </a:pPr>
            <a:r>
              <a:rPr sz="2100" b="0">
                <a:solidFill>
                  <a:srgbClr val="FFFFFF"/>
                </a:solidFill>
                <a:latin typeface="Arial"/>
                <a:ea typeface="Arial"/>
                <a:cs typeface="Arial"/>
              </a:rPr>
              <a:t>a scaling bottleneck.</a:t>
            </a:r>
          </a:p>
        </p:txBody>
      </p:sp>
      <p:sp>
        <p:nvSpPr>
          <p:cNvPr id="7" name="text">
            <a:extLst xmlns:a="http://schemas.openxmlformats.org/drawingml/2006/main">
              <a:ext uri="{FF2B5EF4-FFF2-40B4-BE49-F238E27FC236}">
                <a16:creationId xmlns:a16="http://schemas.microsoft.com/office/drawing/2014/main" id="{37129310-0FD9-4721-A0D3-914FC5081293}"/>
              </a:ext>
            </a:extLst>
          </p:cNvPr>
          <p:cNvSpPr>
            <a:spLocks xmlns:a="http://schemas.openxmlformats.org/drawingml/2006/main" noGrp="1"/>
          </p:cNvSpPr>
          <p:nvPr/>
        </p:nvSpPr>
        <p:spPr>
          <a:xfrm xmlns:a="http://schemas.openxmlformats.org/drawingml/2006/main">
            <a:off x="6457950" y="3876675"/>
            <a:ext cx="5143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400" b="1">
                <a:solidFill>
                  <a:srgbClr val="CFB991"/>
                </a:solidFill>
                <a:latin typeface="Arial"/>
                <a:ea typeface="Arial"/>
                <a:cs typeface="Arial"/>
              </a:defRPr>
            </a:pPr>
            <a:r>
              <a:rPr sz="2400" b="1">
                <a:solidFill>
                  <a:srgbClr val="CFB991"/>
                </a:solidFill>
                <a:latin typeface="Arial"/>
                <a:ea typeface="Arial"/>
                <a:cs typeface="Arial"/>
              </a:rPr>
              <a:t>Limited cooling power</a:t>
            </a:r>
          </a:p>
        </p:txBody>
      </p:sp>
      <p:sp>
        <p:nvSpPr>
          <p:cNvPr id="8" name="text">
            <a:extLst xmlns:a="http://schemas.openxmlformats.org/drawingml/2006/main">
              <a:ext uri="{FF2B5EF4-FFF2-40B4-BE49-F238E27FC236}">
                <a16:creationId xmlns:a16="http://schemas.microsoft.com/office/drawing/2014/main" id="{53571129-4F83-4849-95D5-13FFD10CB661}"/>
              </a:ext>
            </a:extLst>
          </p:cNvPr>
          <p:cNvSpPr>
            <a:spLocks xmlns:a="http://schemas.openxmlformats.org/drawingml/2006/main" noGrp="1"/>
          </p:cNvSpPr>
          <p:nvPr/>
        </p:nvSpPr>
        <p:spPr>
          <a:xfrm xmlns:a="http://schemas.openxmlformats.org/drawingml/2006/main">
            <a:off x="6457950" y="4400550"/>
            <a:ext cx="5048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00" b="0">
                <a:solidFill>
                  <a:srgbClr val="FFFFFF"/>
                </a:solidFill>
                <a:latin typeface="Arial"/>
                <a:ea typeface="Arial"/>
                <a:cs typeface="Arial"/>
              </a:defRPr>
            </a:pPr>
            <a:r>
              <a:rPr sz="2100" b="0">
                <a:solidFill>
                  <a:srgbClr val="FFFFFF"/>
                </a:solidFill>
                <a:latin typeface="Arial"/>
                <a:ea typeface="Arial"/>
                <a:cs typeface="Arial"/>
              </a:rPr>
              <a:t>Electronics near the qubits must</a:t>
            </a:r>
          </a:p>
          <a:p xmlns:a="http://schemas.openxmlformats.org/drawingml/2006/main">
            <a:pPr>
              <a:defRPr sz="2100" b="0">
                <a:solidFill>
                  <a:srgbClr val="FFFFFF"/>
                </a:solidFill>
                <a:latin typeface="Arial"/>
                <a:ea typeface="Arial"/>
                <a:cs typeface="Arial"/>
              </a:defRPr>
            </a:pPr>
            <a:r>
              <a:rPr sz="2100" b="0">
                <a:solidFill>
                  <a:srgbClr val="FFFFFF"/>
                </a:solidFill>
                <a:latin typeface="Arial"/>
                <a:ea typeface="Arial"/>
                <a:cs typeface="Arial"/>
              </a:rPr>
              <a:t>spend very little power.</a:t>
            </a:r>
          </a:p>
        </p:txBody>
      </p:sp>
      <p:sp>
        <p:nvSpPr>
          <p:cNvPr id="9" name="text">
            <a:extLst xmlns:a="http://schemas.openxmlformats.org/drawingml/2006/main">
              <a:ext uri="{FF2B5EF4-FFF2-40B4-BE49-F238E27FC236}">
                <a16:creationId xmlns:a16="http://schemas.microsoft.com/office/drawing/2014/main" id="{05B5F324-E403-4C20-B649-2C08AD15F453}"/>
              </a:ext>
            </a:extLst>
          </p:cNvPr>
          <p:cNvSpPr>
            <a:spLocks xmlns:a="http://schemas.openxmlformats.org/drawingml/2006/main" noGrp="1"/>
          </p:cNvSpPr>
          <p:nvPr/>
        </p:nvSpPr>
        <p:spPr>
          <a:xfrm xmlns:a="http://schemas.openxmlformats.org/drawingml/2006/main">
            <a:off x="476250" y="5676900"/>
            <a:ext cx="111918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00" b="1">
                <a:solidFill>
                  <a:srgbClr val="CFB991"/>
                </a:solidFill>
                <a:latin typeface="Arial"/>
                <a:ea typeface="Arial"/>
                <a:cs typeface="Arial"/>
              </a:defRPr>
            </a:pPr>
            <a:r>
              <a:rPr sz="2100" b="1">
                <a:solidFill>
                  <a:srgbClr val="CFB991"/>
                </a:solidFill>
                <a:latin typeface="Arial"/>
                <a:ea typeface="Arial"/>
                <a:cs typeface="Arial"/>
              </a:rPr>
              <a:t>Goal: a shared, low-power DAC with precise, stable held voltages</a:t>
            </a:r>
          </a:p>
        </p:txBody>
      </p:sp>
    </p:spTree>
    <p:extLst>
      <p:ext uri="{BB962C8B-B14F-4D97-AF65-F5344CB8AC3E}">
        <p14:creationId xmlns:p14="http://schemas.microsoft.com/office/powerpoint/2010/main" val="364731633"/>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Title">
            <a:extLst xmlns:a="http://schemas.openxmlformats.org/drawingml/2006/main">
              <a:ext uri="{FF2B5EF4-FFF2-40B4-BE49-F238E27FC236}">
                <a16:creationId xmlns:a16="http://schemas.microsoft.com/office/drawing/2014/main" id="{9D4CC3C7-01FA-452E-915C-52AD697AE2C6}"/>
              </a:ext>
            </a:extLst>
          </p:cNvPr>
          <p:cNvSpPr>
            <a:spLocks xmlns:a="http://schemas.openxmlformats.org/drawingml/2006/main" noGrp="1"/>
          </p:cNvSpPr>
          <p:nvPr/>
        </p:nvSpPr>
        <p:spPr>
          <a:xfrm xmlns:a="http://schemas.openxmlformats.org/drawingml/2006/main">
            <a:off x="457200" y="628650"/>
            <a:ext cx="111252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150" b="1">
                <a:solidFill>
                  <a:srgbClr val="000000"/>
                </a:solidFill>
                <a:latin typeface="Arial"/>
                <a:ea typeface="Arial"/>
                <a:cs typeface="Arial"/>
              </a:defRPr>
            </a:pPr>
            <a:r>
              <a:rPr sz="3150" b="1">
                <a:solidFill>
                  <a:srgbClr val="000000"/>
                </a:solidFill>
                <a:latin typeface="Arial"/>
                <a:ea typeface="Arial"/>
                <a:cs typeface="Arial"/>
              </a:rPr>
              <a:t>Target requirements</a:t>
            </a:r>
          </a:p>
        </p:txBody>
      </p:sp>
      <p:sp>
        <p:nvSpPr>
          <p:cNvPr id="2" name="Subtitle">
            <a:extLst xmlns:a="http://schemas.openxmlformats.org/drawingml/2006/main">
              <a:ext uri="{FF2B5EF4-FFF2-40B4-BE49-F238E27FC236}">
                <a16:creationId xmlns:a16="http://schemas.microsoft.com/office/drawing/2014/main" id="{5C98A3E1-EF82-4279-B62F-AD33507BAD73}"/>
              </a:ext>
            </a:extLst>
          </p:cNvPr>
          <p:cNvSpPr>
            <a:spLocks xmlns:a="http://schemas.openxmlformats.org/drawingml/2006/main" noGrp="1"/>
          </p:cNvSpPr>
          <p:nvPr/>
        </p:nvSpPr>
        <p:spPr>
          <a:xfrm xmlns:a="http://schemas.openxmlformats.org/drawingml/2006/main">
            <a:off x="457200" y="1333500"/>
            <a:ext cx="111252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0">
                <a:solidFill>
                  <a:srgbClr val="8E6F3E"/>
                </a:solidFill>
                <a:latin typeface="Arial"/>
                <a:ea typeface="Arial"/>
                <a:cs typeface="Arial"/>
              </a:defRPr>
            </a:pPr>
            <a:r>
              <a:rPr sz="1800" b="0">
                <a:solidFill>
                  <a:srgbClr val="8E6F3E"/>
                </a:solidFill>
                <a:latin typeface="Arial"/>
                <a:ea typeface="Arial"/>
                <a:cs typeface="Arial"/>
              </a:rPr>
              <a:t>Literature-informed design targets</a:t>
            </a:r>
          </a:p>
        </p:txBody>
      </p:sp>
      <p:sp>
        <p:nvSpPr>
          <p:cNvPr id="3" name="text">
            <a:extLst xmlns:a="http://schemas.openxmlformats.org/drawingml/2006/main">
              <a:ext uri="{FF2B5EF4-FFF2-40B4-BE49-F238E27FC236}">
                <a16:creationId xmlns:a16="http://schemas.microsoft.com/office/drawing/2014/main" id="{2DA5B1F8-E857-4711-94AB-CBBC394EE62D}"/>
              </a:ext>
            </a:extLst>
          </p:cNvPr>
          <p:cNvSpPr>
            <a:spLocks xmlns:a="http://schemas.openxmlformats.org/drawingml/2006/main" noGrp="1"/>
          </p:cNvSpPr>
          <p:nvPr/>
        </p:nvSpPr>
        <p:spPr>
          <a:xfrm xmlns:a="http://schemas.openxmlformats.org/drawingml/2006/main">
            <a:off x="11372850" y="6457950"/>
            <a:ext cx="4000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050" b="0">
                <a:solidFill>
                  <a:srgbClr val="555960"/>
                </a:solidFill>
                <a:latin typeface="Arial"/>
                <a:ea typeface="Arial"/>
                <a:cs typeface="Arial"/>
              </a:defRPr>
            </a:pPr>
            <a:r>
              <a:rPr sz="1050" b="0">
                <a:solidFill>
                  <a:srgbClr val="555960"/>
                </a:solidFill>
                <a:latin typeface="Arial"/>
                <a:ea typeface="Arial"/>
                <a:cs typeface="Arial"/>
              </a:rPr>
              <a:t>2</a:t>
            </a:r>
          </a:p>
        </p:txBody>
      </p:sp>
      <p:sp>
        <p:nvSpPr>
          <p:cNvPr id="4" name="text">
            <a:extLst xmlns:a="http://schemas.openxmlformats.org/drawingml/2006/main">
              <a:ext uri="{FF2B5EF4-FFF2-40B4-BE49-F238E27FC236}">
                <a16:creationId xmlns:a16="http://schemas.microsoft.com/office/drawing/2014/main" id="{BB3EDD1D-6DBA-43A6-BBE9-409E4FC86065}"/>
              </a:ext>
            </a:extLst>
          </p:cNvPr>
          <p:cNvSpPr>
            <a:spLocks xmlns:a="http://schemas.openxmlformats.org/drawingml/2006/main" noGrp="1"/>
          </p:cNvSpPr>
          <p:nvPr/>
        </p:nvSpPr>
        <p:spPr>
          <a:xfrm xmlns:a="http://schemas.openxmlformats.org/drawingml/2006/main">
            <a:off x="476250" y="2076450"/>
            <a:ext cx="333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750" b="1">
                <a:solidFill>
                  <a:srgbClr val="8E6F3E"/>
                </a:solidFill>
                <a:latin typeface="Arial"/>
                <a:ea typeface="Arial"/>
                <a:cs typeface="Arial"/>
              </a:defRPr>
            </a:pPr>
            <a:r>
              <a:rPr sz="3750" b="1">
                <a:solidFill>
                  <a:srgbClr val="8E6F3E"/>
                </a:solidFill>
                <a:latin typeface="Arial"/>
                <a:ea typeface="Arial"/>
                <a:cs typeface="Arial"/>
              </a:rPr>
              <a:t>0–1 V</a:t>
            </a:r>
          </a:p>
        </p:txBody>
      </p:sp>
      <p:sp>
        <p:nvSpPr>
          <p:cNvPr id="5" name="text">
            <a:extLst xmlns:a="http://schemas.openxmlformats.org/drawingml/2006/main">
              <a:ext uri="{FF2B5EF4-FFF2-40B4-BE49-F238E27FC236}">
                <a16:creationId xmlns:a16="http://schemas.microsoft.com/office/drawing/2014/main" id="{2095EA41-5D4E-40C9-BA82-3B395696E8AC}"/>
              </a:ext>
            </a:extLst>
          </p:cNvPr>
          <p:cNvSpPr>
            <a:spLocks xmlns:a="http://schemas.openxmlformats.org/drawingml/2006/main" noGrp="1"/>
          </p:cNvSpPr>
          <p:nvPr/>
        </p:nvSpPr>
        <p:spPr>
          <a:xfrm xmlns:a="http://schemas.openxmlformats.org/drawingml/2006/main">
            <a:off x="4238625" y="2095500"/>
            <a:ext cx="6953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00" b="1">
                <a:solidFill>
                  <a:srgbClr val="000000"/>
                </a:solidFill>
                <a:latin typeface="Arial"/>
                <a:ea typeface="Arial"/>
                <a:cs typeface="Arial"/>
              </a:defRPr>
            </a:pPr>
            <a:r>
              <a:rPr sz="2100" b="1">
                <a:solidFill>
                  <a:srgbClr val="000000"/>
                </a:solidFill>
                <a:latin typeface="Arial"/>
                <a:ea typeface="Arial"/>
                <a:cs typeface="Arial"/>
              </a:rPr>
              <a:t>Output range</a:t>
            </a:r>
          </a:p>
        </p:txBody>
      </p:sp>
      <p:sp>
        <p:nvSpPr>
          <p:cNvPr id="6" name="text">
            <a:extLst xmlns:a="http://schemas.openxmlformats.org/drawingml/2006/main">
              <a:ext uri="{FF2B5EF4-FFF2-40B4-BE49-F238E27FC236}">
                <a16:creationId xmlns:a16="http://schemas.microsoft.com/office/drawing/2014/main" id="{49A94130-55EB-49D4-AF60-D316E1F6B70C}"/>
              </a:ext>
            </a:extLst>
          </p:cNvPr>
          <p:cNvSpPr>
            <a:spLocks xmlns:a="http://schemas.openxmlformats.org/drawingml/2006/main" noGrp="1"/>
          </p:cNvSpPr>
          <p:nvPr/>
        </p:nvSpPr>
        <p:spPr>
          <a:xfrm xmlns:a="http://schemas.openxmlformats.org/drawingml/2006/main">
            <a:off x="4238625" y="2562225"/>
            <a:ext cx="7048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0">
                <a:solidFill>
                  <a:srgbClr val="555960"/>
                </a:solidFill>
                <a:latin typeface="Arial"/>
                <a:ea typeface="Arial"/>
                <a:cs typeface="Arial"/>
              </a:defRPr>
            </a:pPr>
            <a:r>
              <a:rPr sz="1800" b="0">
                <a:solidFill>
                  <a:srgbClr val="555960"/>
                </a:solidFill>
                <a:latin typeface="Arial"/>
                <a:ea typeface="Arial"/>
                <a:cs typeface="Arial"/>
              </a:rPr>
              <a:t>Independent DC bias for quantum-dot gates</a:t>
            </a:r>
          </a:p>
        </p:txBody>
      </p:sp>
      <p:sp>
        <p:nvSpPr>
          <p:cNvPr id="7" name="text">
            <a:extLst xmlns:a="http://schemas.openxmlformats.org/drawingml/2006/main">
              <a:ext uri="{FF2B5EF4-FFF2-40B4-BE49-F238E27FC236}">
                <a16:creationId xmlns:a16="http://schemas.microsoft.com/office/drawing/2014/main" id="{8D0BC972-24A3-40D9-A496-383D86867772}"/>
              </a:ext>
            </a:extLst>
          </p:cNvPr>
          <p:cNvSpPr>
            <a:spLocks xmlns:a="http://schemas.openxmlformats.org/drawingml/2006/main" noGrp="1"/>
          </p:cNvSpPr>
          <p:nvPr/>
        </p:nvSpPr>
        <p:spPr>
          <a:xfrm xmlns:a="http://schemas.openxmlformats.org/drawingml/2006/main">
            <a:off x="476250" y="3267075"/>
            <a:ext cx="333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750" b="1">
                <a:solidFill>
                  <a:srgbClr val="8E6F3E"/>
                </a:solidFill>
                <a:latin typeface="Arial"/>
                <a:ea typeface="Arial"/>
                <a:cs typeface="Arial"/>
              </a:defRPr>
            </a:pPr>
            <a:r>
              <a:rPr sz="3750" b="1">
                <a:solidFill>
                  <a:srgbClr val="8E6F3E"/>
                </a:solidFill>
                <a:latin typeface="Arial"/>
                <a:ea typeface="Arial"/>
                <a:cs typeface="Arial"/>
              </a:rPr>
              <a:t>13-bit goal</a:t>
            </a:r>
          </a:p>
        </p:txBody>
      </p:sp>
      <p:sp>
        <p:nvSpPr>
          <p:cNvPr id="8" name="text">
            <a:extLst xmlns:a="http://schemas.openxmlformats.org/drawingml/2006/main">
              <a:ext uri="{FF2B5EF4-FFF2-40B4-BE49-F238E27FC236}">
                <a16:creationId xmlns:a16="http://schemas.microsoft.com/office/drawing/2014/main" id="{4CB0D8D3-1F66-41C7-AB82-963AD328A980}"/>
              </a:ext>
            </a:extLst>
          </p:cNvPr>
          <p:cNvSpPr>
            <a:spLocks xmlns:a="http://schemas.openxmlformats.org/drawingml/2006/main" noGrp="1"/>
          </p:cNvSpPr>
          <p:nvPr/>
        </p:nvSpPr>
        <p:spPr>
          <a:xfrm xmlns:a="http://schemas.openxmlformats.org/drawingml/2006/main">
            <a:off x="4238625" y="3286125"/>
            <a:ext cx="6953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00" b="1">
                <a:solidFill>
                  <a:srgbClr val="000000"/>
                </a:solidFill>
                <a:latin typeface="Arial"/>
                <a:ea typeface="Arial"/>
                <a:cs typeface="Arial"/>
              </a:defRPr>
            </a:pPr>
            <a:r>
              <a:rPr sz="2100" b="1">
                <a:solidFill>
                  <a:srgbClr val="000000"/>
                </a:solidFill>
                <a:latin typeface="Arial"/>
                <a:ea typeface="Arial"/>
                <a:cs typeface="Arial"/>
              </a:rPr>
              <a:t>≈125 µV nominal step</a:t>
            </a:r>
          </a:p>
        </p:txBody>
      </p:sp>
      <p:sp>
        <p:nvSpPr>
          <p:cNvPr id="9" name="text">
            <a:extLst xmlns:a="http://schemas.openxmlformats.org/drawingml/2006/main">
              <a:ext uri="{FF2B5EF4-FFF2-40B4-BE49-F238E27FC236}">
                <a16:creationId xmlns:a16="http://schemas.microsoft.com/office/drawing/2014/main" id="{71DAA31E-E82E-4386-AFB3-8272C13112C2}"/>
              </a:ext>
            </a:extLst>
          </p:cNvPr>
          <p:cNvSpPr>
            <a:spLocks xmlns:a="http://schemas.openxmlformats.org/drawingml/2006/main" noGrp="1"/>
          </p:cNvSpPr>
          <p:nvPr/>
        </p:nvSpPr>
        <p:spPr>
          <a:xfrm xmlns:a="http://schemas.openxmlformats.org/drawingml/2006/main">
            <a:off x="4238625" y="3752850"/>
            <a:ext cx="7048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0">
                <a:solidFill>
                  <a:srgbClr val="555960"/>
                </a:solidFill>
                <a:latin typeface="Arial"/>
                <a:ea typeface="Arial"/>
                <a:cs typeface="Arial"/>
              </a:defRPr>
            </a:pPr>
            <a:r>
              <a:rPr sz="1800" b="0">
                <a:solidFill>
                  <a:srgbClr val="555960"/>
                </a:solidFill>
                <a:latin typeface="Arial"/>
                <a:ea typeface="Arial"/>
                <a:cs typeface="Arial"/>
              </a:rPr>
              <a:t>12-bit application requirement, plus margin</a:t>
            </a:r>
          </a:p>
        </p:txBody>
      </p:sp>
      <p:sp>
        <p:nvSpPr>
          <p:cNvPr id="10" name="text">
            <a:extLst xmlns:a="http://schemas.openxmlformats.org/drawingml/2006/main">
              <a:ext uri="{FF2B5EF4-FFF2-40B4-BE49-F238E27FC236}">
                <a16:creationId xmlns:a16="http://schemas.microsoft.com/office/drawing/2014/main" id="{390E58EF-8EEC-46B4-BF4E-19EBB86CC5FF}"/>
              </a:ext>
            </a:extLst>
          </p:cNvPr>
          <p:cNvSpPr>
            <a:spLocks xmlns:a="http://schemas.openxmlformats.org/drawingml/2006/main" noGrp="1"/>
          </p:cNvSpPr>
          <p:nvPr/>
        </p:nvSpPr>
        <p:spPr>
          <a:xfrm xmlns:a="http://schemas.openxmlformats.org/drawingml/2006/main">
            <a:off x="476250" y="4457700"/>
            <a:ext cx="333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750" b="1">
                <a:solidFill>
                  <a:srgbClr val="8E6F3E"/>
                </a:solidFill>
                <a:latin typeface="Arial"/>
                <a:ea typeface="Arial"/>
                <a:cs typeface="Arial"/>
              </a:defRPr>
            </a:pPr>
            <a:r>
              <a:rPr sz="3750" b="1">
                <a:solidFill>
                  <a:srgbClr val="8E6F3E"/>
                </a:solidFill>
                <a:latin typeface="Arial"/>
                <a:ea typeface="Arial"/>
                <a:cs typeface="Arial"/>
              </a:rPr>
              <a:t>8 channels</a:t>
            </a:r>
          </a:p>
        </p:txBody>
      </p:sp>
      <p:sp>
        <p:nvSpPr>
          <p:cNvPr id="11" name="text">
            <a:extLst xmlns:a="http://schemas.openxmlformats.org/drawingml/2006/main">
              <a:ext uri="{FF2B5EF4-FFF2-40B4-BE49-F238E27FC236}">
                <a16:creationId xmlns:a16="http://schemas.microsoft.com/office/drawing/2014/main" id="{2376D6DF-2E12-4C26-8818-8D718E394591}"/>
              </a:ext>
            </a:extLst>
          </p:cNvPr>
          <p:cNvSpPr>
            <a:spLocks xmlns:a="http://schemas.openxmlformats.org/drawingml/2006/main" noGrp="1"/>
          </p:cNvSpPr>
          <p:nvPr/>
        </p:nvSpPr>
        <p:spPr>
          <a:xfrm xmlns:a="http://schemas.openxmlformats.org/drawingml/2006/main">
            <a:off x="4238625" y="4476750"/>
            <a:ext cx="6953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00" b="1">
                <a:solidFill>
                  <a:srgbClr val="000000"/>
                </a:solidFill>
                <a:latin typeface="Arial"/>
                <a:ea typeface="Arial"/>
                <a:cs typeface="Arial"/>
              </a:defRPr>
            </a:pPr>
            <a:r>
              <a:rPr sz="2100" b="1">
                <a:solidFill>
                  <a:srgbClr val="000000"/>
                </a:solidFill>
                <a:latin typeface="Arial"/>
                <a:ea typeface="Arial"/>
                <a:cs typeface="Arial"/>
              </a:rPr>
              <a:t>Shared DAC core</a:t>
            </a:r>
          </a:p>
        </p:txBody>
      </p:sp>
      <p:sp>
        <p:nvSpPr>
          <p:cNvPr id="12" name="text">
            <a:extLst xmlns:a="http://schemas.openxmlformats.org/drawingml/2006/main">
              <a:ext uri="{FF2B5EF4-FFF2-40B4-BE49-F238E27FC236}">
                <a16:creationId xmlns:a16="http://schemas.microsoft.com/office/drawing/2014/main" id="{68DBD831-FD70-49D7-AAB6-CBDCF6EBC645}"/>
              </a:ext>
            </a:extLst>
          </p:cNvPr>
          <p:cNvSpPr>
            <a:spLocks xmlns:a="http://schemas.openxmlformats.org/drawingml/2006/main" noGrp="1"/>
          </p:cNvSpPr>
          <p:nvPr/>
        </p:nvSpPr>
        <p:spPr>
          <a:xfrm xmlns:a="http://schemas.openxmlformats.org/drawingml/2006/main">
            <a:off x="4238625" y="4943475"/>
            <a:ext cx="7048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0">
                <a:solidFill>
                  <a:srgbClr val="555960"/>
                </a:solidFill>
                <a:latin typeface="Arial"/>
                <a:ea typeface="Arial"/>
                <a:cs typeface="Arial"/>
              </a:defRPr>
            </a:pPr>
            <a:r>
              <a:rPr sz="1800" b="0">
                <a:solidFill>
                  <a:srgbClr val="555960"/>
                </a:solidFill>
                <a:latin typeface="Arial"/>
                <a:ea typeface="Arial"/>
                <a:cs typeface="Arial"/>
              </a:rPr>
              <a:t>Per-channel sample-and-hold and periodic refresh</a:t>
            </a:r>
          </a:p>
        </p:txBody>
      </p:sp>
      <p:sp>
        <p:nvSpPr>
          <p:cNvPr id="13" name="text">
            <a:extLst xmlns:a="http://schemas.openxmlformats.org/drawingml/2006/main">
              <a:ext uri="{FF2B5EF4-FFF2-40B4-BE49-F238E27FC236}">
                <a16:creationId xmlns:a16="http://schemas.microsoft.com/office/drawing/2014/main" id="{ACA7F741-3697-4C78-86AC-2AF09BAE2E56}"/>
              </a:ext>
            </a:extLst>
          </p:cNvPr>
          <p:cNvSpPr>
            <a:spLocks xmlns:a="http://schemas.openxmlformats.org/drawingml/2006/main" noGrp="1"/>
          </p:cNvSpPr>
          <p:nvPr/>
        </p:nvSpPr>
        <p:spPr>
          <a:xfrm xmlns:a="http://schemas.openxmlformats.org/drawingml/2006/main">
            <a:off x="476250" y="5695950"/>
            <a:ext cx="11049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1">
                <a:solidFill>
                  <a:srgbClr val="000000"/>
                </a:solidFill>
                <a:latin typeface="Arial"/>
                <a:ea typeface="Arial"/>
                <a:cs typeface="Arial"/>
              </a:defRPr>
            </a:pPr>
            <a:r>
              <a:rPr sz="1800" b="1">
                <a:solidFill>
                  <a:srgbClr val="000000"/>
                </a:solidFill>
                <a:latin typeface="Arial"/>
                <a:ea typeface="Arial"/>
                <a:cs typeface="Arial"/>
              </a:rPr>
              <a:t>Power target: µW per channel, with the budget verified in circuit simulation</a:t>
            </a:r>
          </a:p>
        </p:txBody>
      </p:sp>
      <p:sp>
        <p:nvSpPr>
          <p:cNvPr id="14" name="text">
            <a:extLst xmlns:a="http://schemas.openxmlformats.org/drawingml/2006/main">
              <a:ext uri="{FF2B5EF4-FFF2-40B4-BE49-F238E27FC236}">
                <a16:creationId xmlns:a16="http://schemas.microsoft.com/office/drawing/2014/main" id="{14612C8D-F474-4BC7-8ABB-05E6AF4E898D}"/>
              </a:ext>
            </a:extLst>
          </p:cNvPr>
          <p:cNvSpPr>
            <a:spLocks xmlns:a="http://schemas.openxmlformats.org/drawingml/2006/main" noGrp="1"/>
          </p:cNvSpPr>
          <p:nvPr/>
        </p:nvSpPr>
        <p:spPr>
          <a:xfrm xmlns:a="http://schemas.openxmlformats.org/drawingml/2006/main">
            <a:off x="476250" y="6134100"/>
            <a:ext cx="11049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75" b="0">
                <a:solidFill>
                  <a:srgbClr val="555960"/>
                </a:solidFill>
                <a:latin typeface="Arial"/>
                <a:ea typeface="Arial"/>
                <a:cs typeface="Arial"/>
              </a:defRPr>
            </a:pPr>
            <a:r>
              <a:rPr sz="1275" b="0">
                <a:solidFill>
                  <a:srgbClr val="555960"/>
                </a:solidFill>
                <a:latin typeface="Arial"/>
                <a:ea typeface="Arial"/>
                <a:cs typeface="Arial"/>
              </a:rPr>
              <a:t>Literature benchmark: 6 K measurements, ≈2.7 µW/channel in 65 nm CMOS [1]</a:t>
            </a:r>
          </a:p>
        </p:txBody>
      </p:sp>
    </p:spTree>
    <p:extLst>
      <p:ext uri="{BB962C8B-B14F-4D97-AF65-F5344CB8AC3E}">
        <p14:creationId xmlns:p14="http://schemas.microsoft.com/office/powerpoint/2010/main" val="2215505537"/>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Title">
            <a:extLst xmlns:a="http://schemas.openxmlformats.org/drawingml/2006/main">
              <a:ext uri="{FF2B5EF4-FFF2-40B4-BE49-F238E27FC236}">
                <a16:creationId xmlns:a16="http://schemas.microsoft.com/office/drawing/2014/main" id="{D6E524F1-7734-42EB-82B6-DBE3726A9BCE}"/>
              </a:ext>
            </a:extLst>
          </p:cNvPr>
          <p:cNvSpPr>
            <a:spLocks xmlns:a="http://schemas.openxmlformats.org/drawingml/2006/main" noGrp="1"/>
          </p:cNvSpPr>
          <p:nvPr/>
        </p:nvSpPr>
        <p:spPr>
          <a:xfrm xmlns:a="http://schemas.openxmlformats.org/drawingml/2006/main">
            <a:off x="457200" y="628650"/>
            <a:ext cx="111252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150" b="1">
                <a:solidFill>
                  <a:srgbClr val="000000"/>
                </a:solidFill>
                <a:latin typeface="Arial"/>
                <a:ea typeface="Arial"/>
                <a:cs typeface="Arial"/>
              </a:defRPr>
            </a:pPr>
            <a:r>
              <a:rPr sz="3150" b="1">
                <a:solidFill>
                  <a:srgbClr val="000000"/>
                </a:solidFill>
                <a:latin typeface="Arial"/>
                <a:ea typeface="Arial"/>
                <a:cs typeface="Arial"/>
              </a:rPr>
              <a:t>Proposed charge-redistribution architecture</a:t>
            </a:r>
          </a:p>
        </p:txBody>
      </p:sp>
      <p:sp>
        <p:nvSpPr>
          <p:cNvPr id="2" name="Subtitle">
            <a:extLst xmlns:a="http://schemas.openxmlformats.org/drawingml/2006/main">
              <a:ext uri="{FF2B5EF4-FFF2-40B4-BE49-F238E27FC236}">
                <a16:creationId xmlns:a16="http://schemas.microsoft.com/office/drawing/2014/main" id="{D5D2AF3D-ECD1-4E6A-8A6F-1191230CB0A0}"/>
              </a:ext>
            </a:extLst>
          </p:cNvPr>
          <p:cNvSpPr>
            <a:spLocks xmlns:a="http://schemas.openxmlformats.org/drawingml/2006/main" noGrp="1"/>
          </p:cNvSpPr>
          <p:nvPr/>
        </p:nvSpPr>
        <p:spPr>
          <a:xfrm xmlns:a="http://schemas.openxmlformats.org/drawingml/2006/main">
            <a:off x="457200" y="1333500"/>
            <a:ext cx="111252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0">
                <a:solidFill>
                  <a:srgbClr val="8E6F3E"/>
                </a:solidFill>
                <a:latin typeface="Arial"/>
                <a:ea typeface="Arial"/>
                <a:cs typeface="Arial"/>
              </a:defRPr>
            </a:pPr>
            <a:r>
              <a:rPr sz="1800" b="0">
                <a:solidFill>
                  <a:srgbClr val="8E6F3E"/>
                </a:solidFill>
                <a:latin typeface="Arial"/>
                <a:ea typeface="Arial"/>
                <a:cs typeface="Arial"/>
              </a:rPr>
              <a:t>10-bit fine conversion + 3-bit coarse reference selection</a:t>
            </a:r>
          </a:p>
        </p:txBody>
      </p:sp>
      <p:sp>
        <p:nvSpPr>
          <p:cNvPr id="3" name="text">
            <a:extLst xmlns:a="http://schemas.openxmlformats.org/drawingml/2006/main">
              <a:ext uri="{FF2B5EF4-FFF2-40B4-BE49-F238E27FC236}">
                <a16:creationId xmlns:a16="http://schemas.microsoft.com/office/drawing/2014/main" id="{0254D581-AC5F-4140-823A-0FDAE01B3E42}"/>
              </a:ext>
            </a:extLst>
          </p:cNvPr>
          <p:cNvSpPr>
            <a:spLocks xmlns:a="http://schemas.openxmlformats.org/drawingml/2006/main" noGrp="1"/>
          </p:cNvSpPr>
          <p:nvPr/>
        </p:nvSpPr>
        <p:spPr>
          <a:xfrm xmlns:a="http://schemas.openxmlformats.org/drawingml/2006/main">
            <a:off x="11372850" y="6457950"/>
            <a:ext cx="4000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050" b="0">
                <a:solidFill>
                  <a:srgbClr val="555960"/>
                </a:solidFill>
                <a:latin typeface="Arial"/>
                <a:ea typeface="Arial"/>
                <a:cs typeface="Arial"/>
              </a:defRPr>
            </a:pPr>
            <a:r>
              <a:rPr sz="1050" b="0">
                <a:solidFill>
                  <a:srgbClr val="555960"/>
                </a:solidFill>
                <a:latin typeface="Arial"/>
                <a:ea typeface="Arial"/>
                <a:cs typeface="Arial"/>
              </a:rPr>
              <a:t>3</a:t>
            </a:r>
          </a:p>
        </p:txBody>
      </p:sp>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cf75f18795384532"/>
          <a:stretch xmlns:a="http://schemas.openxmlformats.org/drawingml/2006/main"/>
        </p:blipFill>
        <p:spPr>
          <a:xfrm xmlns:a="http://schemas.openxmlformats.org/drawingml/2006/main">
            <a:off x="419100" y="2204734"/>
            <a:ext cx="11334750" cy="3477231"/>
          </a:xfrm>
          <a:prstGeom xmlns:a="http://schemas.openxmlformats.org/drawingml/2006/main" prst="rect">
            <a:avLst/>
          </a:prstGeom>
        </p:spPr>
      </p:pic>
      <p:sp>
        <p:nvSpPr>
          <p:cNvPr id="5" name="text">
            <a:extLst xmlns:a="http://schemas.openxmlformats.org/drawingml/2006/main">
              <a:ext uri="{FF2B5EF4-FFF2-40B4-BE49-F238E27FC236}">
                <a16:creationId xmlns:a16="http://schemas.microsoft.com/office/drawing/2014/main" id="{CF40BE99-DA5C-47D7-BB72-AFEAB58232A8}"/>
              </a:ext>
            </a:extLst>
          </p:cNvPr>
          <p:cNvSpPr>
            <a:spLocks xmlns:a="http://schemas.openxmlformats.org/drawingml/2006/main" noGrp="1"/>
          </p:cNvSpPr>
          <p:nvPr/>
        </p:nvSpPr>
        <p:spPr>
          <a:xfrm xmlns:a="http://schemas.openxmlformats.org/drawingml/2006/main">
            <a:off x="466725" y="1762125"/>
            <a:ext cx="7143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950" b="1">
                <a:solidFill>
                  <a:srgbClr val="000000"/>
                </a:solidFill>
                <a:latin typeface="Arial"/>
                <a:ea typeface="Arial"/>
                <a:cs typeface="Arial"/>
              </a:defRPr>
            </a:pPr>
            <a:r>
              <a:rPr sz="1950" b="1">
                <a:solidFill>
                  <a:srgbClr val="000000"/>
                </a:solidFill>
                <a:latin typeface="Arial"/>
                <a:ea typeface="Arial"/>
                <a:cs typeface="Arial"/>
              </a:rPr>
              <a:t>Binary-weighted split array + C_A</a:t>
            </a:r>
          </a:p>
        </p:txBody>
      </p:sp>
      <p:sp>
        <p:nvSpPr>
          <p:cNvPr id="6" name="text">
            <a:extLst xmlns:a="http://schemas.openxmlformats.org/drawingml/2006/main">
              <a:ext uri="{FF2B5EF4-FFF2-40B4-BE49-F238E27FC236}">
                <a16:creationId xmlns:a16="http://schemas.microsoft.com/office/drawing/2014/main" id="{E2B5D9BF-B119-4F53-99C4-27D6B95FE018}"/>
              </a:ext>
            </a:extLst>
          </p:cNvPr>
          <p:cNvSpPr>
            <a:spLocks xmlns:a="http://schemas.openxmlformats.org/drawingml/2006/main" noGrp="1"/>
          </p:cNvSpPr>
          <p:nvPr/>
        </p:nvSpPr>
        <p:spPr>
          <a:xfrm xmlns:a="http://schemas.openxmlformats.org/drawingml/2006/main">
            <a:off x="8334375" y="1762125"/>
            <a:ext cx="3524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950" b="1">
                <a:solidFill>
                  <a:srgbClr val="000000"/>
                </a:solidFill>
                <a:latin typeface="Arial"/>
                <a:ea typeface="Arial"/>
                <a:cs typeface="Arial"/>
              </a:defRPr>
            </a:pPr>
            <a:r>
              <a:rPr sz="1950" b="1">
                <a:solidFill>
                  <a:srgbClr val="000000"/>
                </a:solidFill>
                <a:latin typeface="Arial"/>
                <a:ea typeface="Arial"/>
                <a:cs typeface="Arial"/>
              </a:rPr>
              <a:t>DEMUX + storage, ×8</a:t>
            </a:r>
          </a:p>
        </p:txBody>
      </p:sp>
      <p:sp>
        <p:nvSpPr>
          <p:cNvPr id="7" name="text">
            <a:extLst xmlns:a="http://schemas.openxmlformats.org/drawingml/2006/main">
              <a:ext uri="{FF2B5EF4-FFF2-40B4-BE49-F238E27FC236}">
                <a16:creationId xmlns:a16="http://schemas.microsoft.com/office/drawing/2014/main" id="{2C2C2804-D6F3-4AC2-B65D-3A6EA53BA518}"/>
              </a:ext>
            </a:extLst>
          </p:cNvPr>
          <p:cNvSpPr>
            <a:spLocks xmlns:a="http://schemas.openxmlformats.org/drawingml/2006/main" noGrp="1"/>
          </p:cNvSpPr>
          <p:nvPr/>
        </p:nvSpPr>
        <p:spPr>
          <a:xfrm xmlns:a="http://schemas.openxmlformats.org/drawingml/2006/main">
            <a:off x="476250" y="5753100"/>
            <a:ext cx="11239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75" b="1">
                <a:solidFill>
                  <a:srgbClr val="000000"/>
                </a:solidFill>
                <a:latin typeface="Arial"/>
                <a:ea typeface="Arial"/>
                <a:cs typeface="Arial"/>
              </a:defRPr>
            </a:pPr>
            <a:r>
              <a:rPr sz="1875" b="1">
                <a:solidFill>
                  <a:srgbClr val="000000"/>
                </a:solidFill>
                <a:latin typeface="Arial"/>
                <a:ea typeface="Arial"/>
                <a:cs typeface="Arial"/>
              </a:rPr>
              <a:t>Buffer-less charge sharing lowers analog overhead. Refresh maintains each output.</a:t>
            </a:r>
          </a:p>
        </p:txBody>
      </p:sp>
      <p:sp>
        <p:nvSpPr>
          <p:cNvPr id="8" name="text">
            <a:extLst xmlns:a="http://schemas.openxmlformats.org/drawingml/2006/main">
              <a:ext uri="{FF2B5EF4-FFF2-40B4-BE49-F238E27FC236}">
                <a16:creationId xmlns:a16="http://schemas.microsoft.com/office/drawing/2014/main" id="{6814F326-16FD-4B46-8257-FC797C15FBF0}"/>
              </a:ext>
            </a:extLst>
          </p:cNvPr>
          <p:cNvSpPr>
            <a:spLocks xmlns:a="http://schemas.openxmlformats.org/drawingml/2006/main" noGrp="1"/>
          </p:cNvSpPr>
          <p:nvPr/>
        </p:nvSpPr>
        <p:spPr>
          <a:xfrm xmlns:a="http://schemas.openxmlformats.org/drawingml/2006/main">
            <a:off x="476250" y="6210300"/>
            <a:ext cx="11049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75" b="0">
                <a:solidFill>
                  <a:srgbClr val="555960"/>
                </a:solidFill>
                <a:latin typeface="Arial"/>
                <a:ea typeface="Arial"/>
                <a:cs typeface="Arial"/>
              </a:defRPr>
            </a:pPr>
            <a:r>
              <a:rPr sz="1275" b="0">
                <a:solidFill>
                  <a:srgbClr val="555960"/>
                </a:solidFill>
                <a:latin typeface="Arial"/>
                <a:ea typeface="Arial"/>
                <a:cs typeface="Arial"/>
              </a:rPr>
              <a:t>Reference topology [1], with project modeling assumptions for parasitics, reset and leakage</a:t>
            </a:r>
          </a:p>
        </p:txBody>
      </p:sp>
    </p:spTree>
    <p:extLst>
      <p:ext uri="{BB962C8B-B14F-4D97-AF65-F5344CB8AC3E}">
        <p14:creationId xmlns:p14="http://schemas.microsoft.com/office/powerpoint/2010/main" val="2215505537"/>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Title">
            <a:extLst xmlns:a="http://schemas.openxmlformats.org/drawingml/2006/main">
              <a:ext uri="{FF2B5EF4-FFF2-40B4-BE49-F238E27FC236}">
                <a16:creationId xmlns:a16="http://schemas.microsoft.com/office/drawing/2014/main" id="{ED815C78-5BAE-4A2E-B3C4-4978701E8E7B}"/>
              </a:ext>
            </a:extLst>
          </p:cNvPr>
          <p:cNvSpPr>
            <a:spLocks xmlns:a="http://schemas.openxmlformats.org/drawingml/2006/main" noGrp="1"/>
          </p:cNvSpPr>
          <p:nvPr/>
        </p:nvSpPr>
        <p:spPr>
          <a:xfrm xmlns:a="http://schemas.openxmlformats.org/drawingml/2006/main">
            <a:off x="457200" y="628650"/>
            <a:ext cx="111252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150" b="1">
                <a:solidFill>
                  <a:srgbClr val="000000"/>
                </a:solidFill>
                <a:latin typeface="Arial"/>
                <a:ea typeface="Arial"/>
                <a:cs typeface="Arial"/>
              </a:defRPr>
            </a:pPr>
            <a:r>
              <a:rPr sz="3150" b="1">
                <a:solidFill>
                  <a:srgbClr val="000000"/>
                </a:solidFill>
                <a:latin typeface="Arial"/>
                <a:ea typeface="Arial"/>
                <a:cs typeface="Arial"/>
              </a:rPr>
              <a:t>Behavioral modeling: mismatch and retention</a:t>
            </a:r>
          </a:p>
        </p:txBody>
      </p:sp>
      <p:sp>
        <p:nvSpPr>
          <p:cNvPr id="2" name="Subtitle">
            <a:extLst xmlns:a="http://schemas.openxmlformats.org/drawingml/2006/main">
              <a:ext uri="{FF2B5EF4-FFF2-40B4-BE49-F238E27FC236}">
                <a16:creationId xmlns:a16="http://schemas.microsoft.com/office/drawing/2014/main" id="{FE72EA39-13EC-4012-B6C8-3B82B107203B}"/>
              </a:ext>
            </a:extLst>
          </p:cNvPr>
          <p:cNvSpPr>
            <a:spLocks xmlns:a="http://schemas.openxmlformats.org/drawingml/2006/main" noGrp="1"/>
          </p:cNvSpPr>
          <p:nvPr/>
        </p:nvSpPr>
        <p:spPr>
          <a:xfrm xmlns:a="http://schemas.openxmlformats.org/drawingml/2006/main">
            <a:off x="457200" y="1333500"/>
            <a:ext cx="111252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0">
                <a:solidFill>
                  <a:srgbClr val="8E6F3E"/>
                </a:solidFill>
                <a:latin typeface="Arial"/>
                <a:ea typeface="Arial"/>
                <a:cs typeface="Arial"/>
              </a:defRPr>
            </a:pPr>
            <a:r>
              <a:rPr sz="1800" b="0">
                <a:solidFill>
                  <a:srgbClr val="8E6F3E"/>
                </a:solidFill>
                <a:latin typeface="Arial"/>
                <a:ea typeface="Arial"/>
                <a:cs typeface="Arial"/>
              </a:rPr>
              <a:t>Existing project simulations, with assumed component parameters</a:t>
            </a:r>
          </a:p>
        </p:txBody>
      </p:sp>
      <p:sp>
        <p:nvSpPr>
          <p:cNvPr id="3" name="text">
            <a:extLst xmlns:a="http://schemas.openxmlformats.org/drawingml/2006/main">
              <a:ext uri="{FF2B5EF4-FFF2-40B4-BE49-F238E27FC236}">
                <a16:creationId xmlns:a16="http://schemas.microsoft.com/office/drawing/2014/main" id="{BEFDA33F-45B4-467E-AEBA-D31CAE177251}"/>
              </a:ext>
            </a:extLst>
          </p:cNvPr>
          <p:cNvSpPr>
            <a:spLocks xmlns:a="http://schemas.openxmlformats.org/drawingml/2006/main" noGrp="1"/>
          </p:cNvSpPr>
          <p:nvPr/>
        </p:nvSpPr>
        <p:spPr>
          <a:xfrm xmlns:a="http://schemas.openxmlformats.org/drawingml/2006/main">
            <a:off x="11372850" y="6457950"/>
            <a:ext cx="4000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050" b="0">
                <a:solidFill>
                  <a:srgbClr val="555960"/>
                </a:solidFill>
                <a:latin typeface="Arial"/>
                <a:ea typeface="Arial"/>
                <a:cs typeface="Arial"/>
              </a:defRPr>
            </a:pPr>
            <a:r>
              <a:rPr sz="1050" b="0">
                <a:solidFill>
                  <a:srgbClr val="555960"/>
                </a:solidFill>
                <a:latin typeface="Arial"/>
                <a:ea typeface="Arial"/>
                <a:cs typeface="Arial"/>
              </a:rPr>
              <a:t>4</a:t>
            </a:r>
          </a:p>
        </p:txBody>
      </p:sp>
      <p:sp>
        <p:nvSpPr>
          <p:cNvPr id="4" name="text">
            <a:extLst xmlns:a="http://schemas.openxmlformats.org/drawingml/2006/main">
              <a:ext uri="{FF2B5EF4-FFF2-40B4-BE49-F238E27FC236}">
                <a16:creationId xmlns:a16="http://schemas.microsoft.com/office/drawing/2014/main" id="{327EC5D8-448C-4F15-9DA2-F87BFAE897F2}"/>
              </a:ext>
            </a:extLst>
          </p:cNvPr>
          <p:cNvSpPr>
            <a:spLocks xmlns:a="http://schemas.openxmlformats.org/drawingml/2006/main" noGrp="1"/>
          </p:cNvSpPr>
          <p:nvPr/>
        </p:nvSpPr>
        <p:spPr>
          <a:xfrm xmlns:a="http://schemas.openxmlformats.org/drawingml/2006/main">
            <a:off x="476250" y="186690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00" b="1">
                <a:solidFill>
                  <a:srgbClr val="000000"/>
                </a:solidFill>
                <a:latin typeface="Arial"/>
                <a:ea typeface="Arial"/>
                <a:cs typeface="Arial"/>
              </a:defRPr>
            </a:pPr>
            <a:r>
              <a:rPr sz="2100" b="1">
                <a:solidFill>
                  <a:srgbClr val="000000"/>
                </a:solidFill>
                <a:latin typeface="Arial"/>
                <a:ea typeface="Arial"/>
                <a:cs typeface="Arial"/>
              </a:rPr>
              <a:t>Capacitor mismatch</a:t>
            </a:r>
          </a:p>
        </p:txBody>
      </p:sp>
      <p:sp>
        <p:nvSpPr>
          <p:cNvPr id="5" name="text">
            <a:extLst xmlns:a="http://schemas.openxmlformats.org/drawingml/2006/main">
              <a:ext uri="{FF2B5EF4-FFF2-40B4-BE49-F238E27FC236}">
                <a16:creationId xmlns:a16="http://schemas.microsoft.com/office/drawing/2014/main" id="{64985A9B-E7A7-4241-BC70-AEC7886146F9}"/>
              </a:ext>
            </a:extLst>
          </p:cNvPr>
          <p:cNvSpPr>
            <a:spLocks xmlns:a="http://schemas.openxmlformats.org/drawingml/2006/main" noGrp="1"/>
          </p:cNvSpPr>
          <p:nvPr/>
        </p:nvSpPr>
        <p:spPr>
          <a:xfrm xmlns:a="http://schemas.openxmlformats.org/drawingml/2006/main">
            <a:off x="6410325" y="186690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00" b="1">
                <a:solidFill>
                  <a:srgbClr val="000000"/>
                </a:solidFill>
                <a:latin typeface="Arial"/>
                <a:ea typeface="Arial"/>
                <a:cs typeface="Arial"/>
              </a:defRPr>
            </a:pPr>
            <a:r>
              <a:rPr sz="2100" b="1">
                <a:solidFill>
                  <a:srgbClr val="000000"/>
                </a:solidFill>
                <a:latin typeface="Arial"/>
                <a:ea typeface="Arial"/>
                <a:cs typeface="Arial"/>
              </a:rPr>
              <a:t>Leakage between refreshes</a:t>
            </a:r>
          </a:p>
        </p:txBody>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ddba47d111ce4494"/>
          <a:stretch xmlns:a="http://schemas.openxmlformats.org/drawingml/2006/main"/>
        </p:blipFill>
        <p:spPr>
          <a:xfrm xmlns:a="http://schemas.openxmlformats.org/drawingml/2006/main">
            <a:off x="457729" y="2305050"/>
            <a:ext cx="5437717" cy="3495675"/>
          </a:xfrm>
          <a:prstGeom xmlns:a="http://schemas.openxmlformats.org/drawingml/2006/main" prst="rect">
            <a:avLst/>
          </a:prstGeom>
        </p:spPr>
      </p:pic>
      <p:pic>
        <p:nvPicPr>
          <p:cNvPr id="17" name=""/>
          <p:cNvPicPr>
            <a:picLocks xmlns:a="http://schemas.openxmlformats.org/drawingml/2006/main" noChangeAspect="1"/>
          </p:cNvPicPr>
          <p:nvPr/>
        </p:nvPicPr>
        <p:blipFill>
          <a:blip xmlns:r="http://schemas.openxmlformats.org/officeDocument/2006/relationships" xmlns:a="http://schemas.openxmlformats.org/drawingml/2006/main" r:embed="Re7f3d092a3b54187"/>
          <a:stretch xmlns:a="http://schemas.openxmlformats.org/drawingml/2006/main"/>
        </p:blipFill>
        <p:spPr>
          <a:xfrm xmlns:a="http://schemas.openxmlformats.org/drawingml/2006/main">
            <a:off x="7021781" y="2514600"/>
            <a:ext cx="4092038" cy="3286125"/>
          </a:xfrm>
          <a:prstGeom xmlns:a="http://schemas.openxmlformats.org/drawingml/2006/main" prst="rect">
            <a:avLst/>
          </a:prstGeom>
        </p:spPr>
      </p:pic>
      <p:sp>
        <p:nvSpPr>
          <p:cNvPr id="8" name="text">
            <a:extLst xmlns:a="http://schemas.openxmlformats.org/drawingml/2006/main">
              <a:ext uri="{FF2B5EF4-FFF2-40B4-BE49-F238E27FC236}">
                <a16:creationId xmlns:a16="http://schemas.microsoft.com/office/drawing/2014/main" id="{3B8999DF-0416-4DEB-950A-407D0EBF6B9B}"/>
              </a:ext>
            </a:extLst>
          </p:cNvPr>
          <p:cNvSpPr>
            <a:spLocks xmlns:a="http://schemas.openxmlformats.org/drawingml/2006/main" noGrp="1"/>
          </p:cNvSpPr>
          <p:nvPr/>
        </p:nvSpPr>
        <p:spPr>
          <a:xfrm xmlns:a="http://schemas.openxmlformats.org/drawingml/2006/main">
            <a:off x="476250" y="5810250"/>
            <a:ext cx="5429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650" b="1">
                <a:solidFill>
                  <a:srgbClr val="000000"/>
                </a:solidFill>
                <a:latin typeface="Arial"/>
                <a:ea typeface="Arial"/>
                <a:cs typeface="Arial"/>
              </a:defRPr>
            </a:pPr>
            <a:r>
              <a:rPr sz="1650" b="1">
                <a:solidFill>
                  <a:srgbClr val="000000"/>
                </a:solidFill>
                <a:latin typeface="Arial"/>
                <a:ea typeface="Arial"/>
                <a:cs typeface="Arial"/>
              </a:rPr>
              <a:t>Segmented coding reduces DNL in this sweep.</a:t>
            </a:r>
          </a:p>
        </p:txBody>
      </p:sp>
      <p:sp>
        <p:nvSpPr>
          <p:cNvPr id="9" name="text">
            <a:extLst xmlns:a="http://schemas.openxmlformats.org/drawingml/2006/main">
              <a:ext uri="{FF2B5EF4-FFF2-40B4-BE49-F238E27FC236}">
                <a16:creationId xmlns:a16="http://schemas.microsoft.com/office/drawing/2014/main" id="{1B457C9D-481B-4D9D-9E82-03B109F64E5D}"/>
              </a:ext>
            </a:extLst>
          </p:cNvPr>
          <p:cNvSpPr>
            <a:spLocks xmlns:a="http://schemas.openxmlformats.org/drawingml/2006/main" noGrp="1"/>
          </p:cNvSpPr>
          <p:nvPr/>
        </p:nvSpPr>
        <p:spPr>
          <a:xfrm xmlns:a="http://schemas.openxmlformats.org/drawingml/2006/main">
            <a:off x="6429375" y="5810250"/>
            <a:ext cx="54102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650" b="1">
                <a:solidFill>
                  <a:srgbClr val="000000"/>
                </a:solidFill>
                <a:latin typeface="Arial"/>
                <a:ea typeface="Arial"/>
                <a:cs typeface="Arial"/>
              </a:defRPr>
            </a:pPr>
            <a:r>
              <a:rPr sz="1650" b="1">
                <a:solidFill>
                  <a:srgbClr val="000000"/>
                </a:solidFill>
                <a:latin typeface="Arial"/>
                <a:ea typeface="Arial"/>
                <a:cs typeface="Arial"/>
              </a:rPr>
              <a:t>Droop scales as I_leak / (C_storage × f_R).</a:t>
            </a:r>
          </a:p>
        </p:txBody>
      </p:sp>
      <p:sp>
        <p:nvSpPr>
          <p:cNvPr id="10" name="text">
            <a:extLst xmlns:a="http://schemas.openxmlformats.org/drawingml/2006/main">
              <a:ext uri="{FF2B5EF4-FFF2-40B4-BE49-F238E27FC236}">
                <a16:creationId xmlns:a16="http://schemas.microsoft.com/office/drawing/2014/main" id="{B490D4E1-C4F5-4915-9712-78D22276F8D1}"/>
              </a:ext>
            </a:extLst>
          </p:cNvPr>
          <p:cNvSpPr>
            <a:spLocks xmlns:a="http://schemas.openxmlformats.org/drawingml/2006/main" noGrp="1"/>
          </p:cNvSpPr>
          <p:nvPr/>
        </p:nvSpPr>
        <p:spPr>
          <a:xfrm xmlns:a="http://schemas.openxmlformats.org/drawingml/2006/main">
            <a:off x="476250" y="6238875"/>
            <a:ext cx="111918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00" b="0">
                <a:solidFill>
                  <a:srgbClr val="555960"/>
                </a:solidFill>
                <a:latin typeface="Arial"/>
                <a:ea typeface="Arial"/>
                <a:cs typeface="Arial"/>
              </a:defRPr>
            </a:pPr>
            <a:r>
              <a:rPr sz="1200" b="0">
                <a:solidFill>
                  <a:srgbClr val="555960"/>
                </a:solidFill>
                <a:latin typeface="Arial"/>
                <a:ea typeface="Arial"/>
                <a:cs typeface="Arial"/>
              </a:rPr>
              <a:t>Right: C_storage = 1 pF, C_DAC = 5.12 pF, I_leak = 1 pA. Curves are behavioral, not silicon.</a:t>
            </a:r>
          </a:p>
        </p:txBody>
      </p:sp>
    </p:spTree>
    <p:extLst>
      <p:ext uri="{BB962C8B-B14F-4D97-AF65-F5344CB8AC3E}">
        <p14:creationId xmlns:p14="http://schemas.microsoft.com/office/powerpoint/2010/main" val="2215505537"/>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Title">
            <a:extLst xmlns:a="http://schemas.openxmlformats.org/drawingml/2006/main">
              <a:ext uri="{FF2B5EF4-FFF2-40B4-BE49-F238E27FC236}">
                <a16:creationId xmlns:a16="http://schemas.microsoft.com/office/drawing/2014/main" id="{1E78A3F4-A253-498D-BDFB-7D9912323D6E}"/>
              </a:ext>
            </a:extLst>
          </p:cNvPr>
          <p:cNvSpPr>
            <a:spLocks xmlns:a="http://schemas.openxmlformats.org/drawingml/2006/main" noGrp="1"/>
          </p:cNvSpPr>
          <p:nvPr/>
        </p:nvSpPr>
        <p:spPr>
          <a:xfrm xmlns:a="http://schemas.openxmlformats.org/drawingml/2006/main">
            <a:off x="457200" y="628650"/>
            <a:ext cx="111252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150" b="1">
                <a:solidFill>
                  <a:srgbClr val="000000"/>
                </a:solidFill>
                <a:latin typeface="Arial"/>
                <a:ea typeface="Arial"/>
                <a:cs typeface="Arial"/>
              </a:defRPr>
            </a:pPr>
            <a:r>
              <a:rPr sz="3150" b="1">
                <a:solidFill>
                  <a:srgbClr val="000000"/>
                </a:solidFill>
                <a:latin typeface="Arial"/>
                <a:ea typeface="Arial"/>
                <a:cs typeface="Arial"/>
              </a:rPr>
              <a:t>Coarse-region gaps need additional voltage levels</a:t>
            </a:r>
          </a:p>
        </p:txBody>
      </p:sp>
      <p:sp>
        <p:nvSpPr>
          <p:cNvPr id="2" name="Subtitle">
            <a:extLst xmlns:a="http://schemas.openxmlformats.org/drawingml/2006/main">
              <a:ext uri="{FF2B5EF4-FFF2-40B4-BE49-F238E27FC236}">
                <a16:creationId xmlns:a16="http://schemas.microsoft.com/office/drawing/2014/main" id="{F49EBF73-82E1-443A-89DF-6C1AC6BF2B95}"/>
              </a:ext>
            </a:extLst>
          </p:cNvPr>
          <p:cNvSpPr>
            <a:spLocks xmlns:a="http://schemas.openxmlformats.org/drawingml/2006/main" noGrp="1"/>
          </p:cNvSpPr>
          <p:nvPr/>
        </p:nvSpPr>
        <p:spPr>
          <a:xfrm xmlns:a="http://schemas.openxmlformats.org/drawingml/2006/main">
            <a:off x="457200" y="1333500"/>
            <a:ext cx="111252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0">
                <a:solidFill>
                  <a:srgbClr val="8E6F3E"/>
                </a:solidFill>
                <a:latin typeface="Arial"/>
                <a:ea typeface="Arial"/>
                <a:cs typeface="Arial"/>
              </a:defRPr>
            </a:pPr>
            <a:r>
              <a:rPr sz="1800" b="0">
                <a:solidFill>
                  <a:srgbClr val="8E6F3E"/>
                </a:solidFill>
                <a:latin typeface="Arial"/>
                <a:ea typeface="Arial"/>
                <a:cs typeface="Arial"/>
              </a:rPr>
              <a:t>Modeled parasitic attenuation: α = 0.064, with reset to the lower reference</a:t>
            </a:r>
          </a:p>
        </p:txBody>
      </p:sp>
      <p:sp>
        <p:nvSpPr>
          <p:cNvPr id="3" name="text">
            <a:extLst xmlns:a="http://schemas.openxmlformats.org/drawingml/2006/main">
              <a:ext uri="{FF2B5EF4-FFF2-40B4-BE49-F238E27FC236}">
                <a16:creationId xmlns:a16="http://schemas.microsoft.com/office/drawing/2014/main" id="{DC7AD3AD-2F57-42CC-8FB6-8CA8CBF625A5}"/>
              </a:ext>
            </a:extLst>
          </p:cNvPr>
          <p:cNvSpPr>
            <a:spLocks xmlns:a="http://schemas.openxmlformats.org/drawingml/2006/main" noGrp="1"/>
          </p:cNvSpPr>
          <p:nvPr/>
        </p:nvSpPr>
        <p:spPr>
          <a:xfrm xmlns:a="http://schemas.openxmlformats.org/drawingml/2006/main">
            <a:off x="11372850" y="6457950"/>
            <a:ext cx="4000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050" b="0">
                <a:solidFill>
                  <a:srgbClr val="555960"/>
                </a:solidFill>
                <a:latin typeface="Arial"/>
                <a:ea typeface="Arial"/>
                <a:cs typeface="Arial"/>
              </a:defRPr>
            </a:pPr>
            <a:r>
              <a:rPr sz="1050" b="0">
                <a:solidFill>
                  <a:srgbClr val="555960"/>
                </a:solidFill>
                <a:latin typeface="Arial"/>
                <a:ea typeface="Arial"/>
                <a:cs typeface="Arial"/>
              </a:rPr>
              <a:t>5</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33ac764d1a534768"/>
          <a:stretch xmlns:a="http://schemas.openxmlformats.org/drawingml/2006/main"/>
        </p:blipFill>
        <p:spPr>
          <a:xfrm xmlns:a="http://schemas.openxmlformats.org/drawingml/2006/main">
            <a:off x="1777599" y="1924050"/>
            <a:ext cx="8598701" cy="4076700"/>
          </a:xfrm>
          <a:prstGeom xmlns:a="http://schemas.openxmlformats.org/drawingml/2006/main" prst="rect">
            <a:avLst/>
          </a:prstGeom>
        </p:spPr>
      </p:pic>
      <p:sp>
        <p:nvSpPr>
          <p:cNvPr id="5" name="text">
            <a:extLst xmlns:a="http://schemas.openxmlformats.org/drawingml/2006/main">
              <a:ext uri="{FF2B5EF4-FFF2-40B4-BE49-F238E27FC236}">
                <a16:creationId xmlns:a16="http://schemas.microsoft.com/office/drawing/2014/main" id="{0CFC941E-1686-4B35-B17F-FD069764B26F}"/>
              </a:ext>
            </a:extLst>
          </p:cNvPr>
          <p:cNvSpPr>
            <a:spLocks xmlns:a="http://schemas.openxmlformats.org/drawingml/2006/main" noGrp="1"/>
          </p:cNvSpPr>
          <p:nvPr/>
        </p:nvSpPr>
        <p:spPr>
          <a:xfrm xmlns:a="http://schemas.openxmlformats.org/drawingml/2006/main">
            <a:off x="476250" y="5924550"/>
            <a:ext cx="111918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1">
                <a:solidFill>
                  <a:srgbClr val="000000"/>
                </a:solidFill>
                <a:latin typeface="Arial"/>
                <a:ea typeface="Arial"/>
                <a:cs typeface="Arial"/>
              </a:defRPr>
            </a:pPr>
            <a:r>
              <a:rPr sz="1800" b="1">
                <a:solidFill>
                  <a:srgbClr val="000000"/>
                </a:solidFill>
                <a:latin typeface="Arial"/>
                <a:ea typeface="Arial"/>
                <a:cs typeface="Arial"/>
              </a:rPr>
              <a:t>Calibration alone cannot fill the gap. Intermediate reference spans add missing levels.</a:t>
            </a:r>
          </a:p>
        </p:txBody>
      </p:sp>
      <p:sp>
        <p:nvSpPr>
          <p:cNvPr id="6" name="text">
            <a:extLst xmlns:a="http://schemas.openxmlformats.org/drawingml/2006/main">
              <a:ext uri="{FF2B5EF4-FFF2-40B4-BE49-F238E27FC236}">
                <a16:creationId xmlns:a16="http://schemas.microsoft.com/office/drawing/2014/main" id="{9C45AACE-BEE7-4AAC-8119-675C2020CE28}"/>
              </a:ext>
            </a:extLst>
          </p:cNvPr>
          <p:cNvSpPr>
            <a:spLocks xmlns:a="http://schemas.openxmlformats.org/drawingml/2006/main" noGrp="1"/>
          </p:cNvSpPr>
          <p:nvPr/>
        </p:nvSpPr>
        <p:spPr>
          <a:xfrm xmlns:a="http://schemas.openxmlformats.org/drawingml/2006/main">
            <a:off x="476250" y="6267450"/>
            <a:ext cx="1109662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00" b="0">
                <a:solidFill>
                  <a:srgbClr val="555960"/>
                </a:solidFill>
                <a:latin typeface="Arial"/>
                <a:ea typeface="Arial"/>
                <a:cs typeface="Arial"/>
              </a:defRPr>
            </a:pPr>
            <a:r>
              <a:rPr sz="1200" b="0">
                <a:solidFill>
                  <a:srgbClr val="555960"/>
                </a:solidFill>
                <a:latin typeface="Arial"/>
                <a:ea typeface="Arial"/>
                <a:cs typeface="Arial"/>
              </a:rPr>
              <a:t>Model: ≈8.1 mV jump, intermediate spacing ≈2 LSB. Full-scale endpoint coverage remains open.</a:t>
            </a:r>
          </a:p>
        </p:txBody>
      </p:sp>
    </p:spTree>
    <p:extLst>
      <p:ext uri="{BB962C8B-B14F-4D97-AF65-F5344CB8AC3E}">
        <p14:creationId xmlns:p14="http://schemas.microsoft.com/office/powerpoint/2010/main" val="2215505537"/>
      </p:ext>
    </p:extLst>
  </p:cSld>
</p:sld>
</file>

<file path=ppt/slides/slide6.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14" name="Title">
            <a:extLst xmlns:a="http://schemas.openxmlformats.org/drawingml/2006/main">
              <a:ext uri="{FF2B5EF4-FFF2-40B4-BE49-F238E27FC236}">
                <a16:creationId xmlns:a16="http://schemas.microsoft.com/office/drawing/2014/main" id="{9C66A938-F1BB-416D-93FA-6CAF03B63D33}"/>
              </a:ext>
            </a:extLst>
          </p:cNvPr>
          <p:cNvSpPr>
            <a:spLocks xmlns:a="http://schemas.openxmlformats.org/drawingml/2006/main" noGrp="1"/>
          </p:cNvSpPr>
          <p:nvPr/>
        </p:nvSpPr>
        <p:spPr>
          <a:xfrm xmlns:a="http://schemas.openxmlformats.org/drawingml/2006/main">
            <a:off x="457200" y="628650"/>
            <a:ext cx="111252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150" b="1">
                <a:solidFill>
                  <a:srgbClr val="FFFFFF"/>
                </a:solidFill>
                <a:latin typeface="Arial"/>
                <a:ea typeface="Arial"/>
                <a:cs typeface="Arial"/>
              </a:defRPr>
            </a:pPr>
            <a:r>
              <a:rPr sz="3150" b="1">
                <a:solidFill>
                  <a:srgbClr val="FFFFFF"/>
                </a:solidFill>
                <a:latin typeface="Arial"/>
                <a:ea typeface="Arial"/>
                <a:cs typeface="Arial"/>
              </a:rPr>
              <a:t>Design direction and next steps</a:t>
            </a:r>
          </a:p>
        </p:txBody>
      </p:sp>
      <p:sp>
        <p:nvSpPr>
          <p:cNvPr id="2" name="Subtitle">
            <a:extLst xmlns:a="http://schemas.openxmlformats.org/drawingml/2006/main">
              <a:ext uri="{FF2B5EF4-FFF2-40B4-BE49-F238E27FC236}">
                <a16:creationId xmlns:a16="http://schemas.microsoft.com/office/drawing/2014/main" id="{30465477-A46A-48C9-A719-2C7097C9D2AD}"/>
              </a:ext>
            </a:extLst>
          </p:cNvPr>
          <p:cNvSpPr>
            <a:spLocks xmlns:a="http://schemas.openxmlformats.org/drawingml/2006/main" noGrp="1"/>
          </p:cNvSpPr>
          <p:nvPr/>
        </p:nvSpPr>
        <p:spPr>
          <a:xfrm xmlns:a="http://schemas.openxmlformats.org/drawingml/2006/main">
            <a:off x="457200" y="1333500"/>
            <a:ext cx="111252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0">
                <a:solidFill>
                  <a:srgbClr val="CFB991"/>
                </a:solidFill>
                <a:latin typeface="Arial"/>
                <a:ea typeface="Arial"/>
                <a:cs typeface="Arial"/>
              </a:defRPr>
            </a:pPr>
            <a:r>
              <a:rPr sz="1800" b="0">
                <a:solidFill>
                  <a:srgbClr val="CFB991"/>
                </a:solidFill>
                <a:latin typeface="Arial"/>
                <a:ea typeface="Arial"/>
                <a:cs typeface="Arial"/>
              </a:rPr>
              <a:t>Current stage: behavioral models + early circuit setup</a:t>
            </a:r>
          </a:p>
        </p:txBody>
      </p:sp>
      <p:sp>
        <p:nvSpPr>
          <p:cNvPr id="3" name="text">
            <a:extLst xmlns:a="http://schemas.openxmlformats.org/drawingml/2006/main">
              <a:ext uri="{FF2B5EF4-FFF2-40B4-BE49-F238E27FC236}">
                <a16:creationId xmlns:a16="http://schemas.microsoft.com/office/drawing/2014/main" id="{8CB595D9-E4D9-4150-AE9B-347EF5B0A1B4}"/>
              </a:ext>
            </a:extLst>
          </p:cNvPr>
          <p:cNvSpPr>
            <a:spLocks xmlns:a="http://schemas.openxmlformats.org/drawingml/2006/main" noGrp="1"/>
          </p:cNvSpPr>
          <p:nvPr/>
        </p:nvSpPr>
        <p:spPr>
          <a:xfrm xmlns:a="http://schemas.openxmlformats.org/drawingml/2006/main">
            <a:off x="11372850" y="6457950"/>
            <a:ext cx="4000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050" b="0">
                <a:solidFill>
                  <a:srgbClr val="CFB991"/>
                </a:solidFill>
                <a:latin typeface="Arial"/>
                <a:ea typeface="Arial"/>
                <a:cs typeface="Arial"/>
              </a:defRPr>
            </a:pPr>
            <a:r>
              <a:rPr sz="1050" b="0">
                <a:solidFill>
                  <a:srgbClr val="CFB991"/>
                </a:solidFill>
                <a:latin typeface="Arial"/>
                <a:ea typeface="Arial"/>
                <a:cs typeface="Arial"/>
              </a:rPr>
              <a:t>6</a:t>
            </a:r>
          </a:p>
        </p:txBody>
      </p:sp>
      <p:sp>
        <p:nvSpPr>
          <p:cNvPr id="4" name="text">
            <a:extLst xmlns:a="http://schemas.openxmlformats.org/drawingml/2006/main">
              <a:ext uri="{FF2B5EF4-FFF2-40B4-BE49-F238E27FC236}">
                <a16:creationId xmlns:a16="http://schemas.microsoft.com/office/drawing/2014/main" id="{7B2797D3-3B17-464C-B8AF-131B48D1408C}"/>
              </a:ext>
            </a:extLst>
          </p:cNvPr>
          <p:cNvSpPr>
            <a:spLocks xmlns:a="http://schemas.openxmlformats.org/drawingml/2006/main" noGrp="1"/>
          </p:cNvSpPr>
          <p:nvPr/>
        </p:nvSpPr>
        <p:spPr>
          <a:xfrm xmlns:a="http://schemas.openxmlformats.org/drawingml/2006/main">
            <a:off x="476250" y="2000250"/>
            <a:ext cx="952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750" b="1">
                <a:solidFill>
                  <a:srgbClr val="CFB991"/>
                </a:solidFill>
                <a:latin typeface="Arial"/>
                <a:ea typeface="Arial"/>
                <a:cs typeface="Arial"/>
              </a:defRPr>
            </a:pPr>
            <a:r>
              <a:rPr sz="3750" b="1">
                <a:solidFill>
                  <a:srgbClr val="CFB991"/>
                </a:solidFill>
                <a:latin typeface="Arial"/>
                <a:ea typeface="Arial"/>
                <a:cs typeface="Arial"/>
              </a:rPr>
              <a:t>01</a:t>
            </a:r>
          </a:p>
        </p:txBody>
      </p:sp>
      <p:sp>
        <p:nvSpPr>
          <p:cNvPr id="5" name="text">
            <a:extLst xmlns:a="http://schemas.openxmlformats.org/drawingml/2006/main">
              <a:ext uri="{FF2B5EF4-FFF2-40B4-BE49-F238E27FC236}">
                <a16:creationId xmlns:a16="http://schemas.microsoft.com/office/drawing/2014/main" id="{032F73CE-7CD0-414D-AA18-C9BC0ED411E6}"/>
              </a:ext>
            </a:extLst>
          </p:cNvPr>
          <p:cNvSpPr>
            <a:spLocks xmlns:a="http://schemas.openxmlformats.org/drawingml/2006/main" noGrp="1"/>
          </p:cNvSpPr>
          <p:nvPr/>
        </p:nvSpPr>
        <p:spPr>
          <a:xfrm xmlns:a="http://schemas.openxmlformats.org/drawingml/2006/main">
            <a:off x="1600200" y="2000250"/>
            <a:ext cx="9810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325" b="1">
                <a:solidFill>
                  <a:srgbClr val="FFFFFF"/>
                </a:solidFill>
                <a:latin typeface="Arial"/>
                <a:ea typeface="Arial"/>
                <a:cs typeface="Arial"/>
              </a:defRPr>
            </a:pPr>
            <a:r>
              <a:rPr sz="2325" b="1">
                <a:solidFill>
                  <a:srgbClr val="FFFFFF"/>
                </a:solidFill>
                <a:latin typeface="Arial"/>
                <a:ea typeface="Arial"/>
                <a:cs typeface="Arial"/>
              </a:rPr>
              <a:t>Close the range gaps</a:t>
            </a:r>
          </a:p>
        </p:txBody>
      </p:sp>
      <p:sp>
        <p:nvSpPr>
          <p:cNvPr id="6" name="text">
            <a:extLst xmlns:a="http://schemas.openxmlformats.org/drawingml/2006/main">
              <a:ext uri="{FF2B5EF4-FFF2-40B4-BE49-F238E27FC236}">
                <a16:creationId xmlns:a16="http://schemas.microsoft.com/office/drawing/2014/main" id="{2C798DFB-729A-4F15-9657-A36A47F05F49}"/>
              </a:ext>
            </a:extLst>
          </p:cNvPr>
          <p:cNvSpPr>
            <a:spLocks xmlns:a="http://schemas.openxmlformats.org/drawingml/2006/main" noGrp="1"/>
          </p:cNvSpPr>
          <p:nvPr/>
        </p:nvSpPr>
        <p:spPr>
          <a:xfrm xmlns:a="http://schemas.openxmlformats.org/drawingml/2006/main">
            <a:off x="1600200" y="2466975"/>
            <a:ext cx="10001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75" b="0">
                <a:solidFill>
                  <a:srgbClr val="FFFFFF"/>
                </a:solidFill>
                <a:latin typeface="Arial"/>
                <a:ea typeface="Arial"/>
                <a:cs typeface="Arial"/>
              </a:defRPr>
            </a:pPr>
            <a:r>
              <a:rPr sz="1875" b="0">
                <a:solidFill>
                  <a:srgbClr val="FFFFFF"/>
                </a:solidFill>
                <a:latin typeface="Arial"/>
                <a:ea typeface="Arial"/>
                <a:cs typeface="Arial"/>
              </a:rPr>
              <a:t>Intermediate coarse steps and region overlap</a:t>
            </a:r>
          </a:p>
          <a:p xmlns:a="http://schemas.openxmlformats.org/drawingml/2006/main">
            <a:pPr>
              <a:defRPr sz="1875" b="0">
                <a:solidFill>
                  <a:srgbClr val="FFFFFF"/>
                </a:solidFill>
                <a:latin typeface="Arial"/>
                <a:ea typeface="Arial"/>
                <a:cs typeface="Arial"/>
              </a:defRPr>
            </a:pPr>
            <a:r>
              <a:rPr sz="1875" b="0">
                <a:solidFill>
                  <a:srgbClr val="FFFFFF"/>
                </a:solidFill>
                <a:latin typeface="Arial"/>
                <a:ea typeface="Arial"/>
                <a:cs typeface="Arial"/>
              </a:rPr>
              <a:t>with digital gain/offset compensation</a:t>
            </a:r>
          </a:p>
        </p:txBody>
      </p:sp>
      <p:sp>
        <p:nvSpPr>
          <p:cNvPr id="7" name="text">
            <a:extLst xmlns:a="http://schemas.openxmlformats.org/drawingml/2006/main">
              <a:ext uri="{FF2B5EF4-FFF2-40B4-BE49-F238E27FC236}">
                <a16:creationId xmlns:a16="http://schemas.microsoft.com/office/drawing/2014/main" id="{B59B8FC8-1F6F-483C-86E9-47025F9F8EBB}"/>
              </a:ext>
            </a:extLst>
          </p:cNvPr>
          <p:cNvSpPr>
            <a:spLocks xmlns:a="http://schemas.openxmlformats.org/drawingml/2006/main" noGrp="1"/>
          </p:cNvSpPr>
          <p:nvPr/>
        </p:nvSpPr>
        <p:spPr>
          <a:xfrm xmlns:a="http://schemas.openxmlformats.org/drawingml/2006/main">
            <a:off x="476250" y="3238500"/>
            <a:ext cx="952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750" b="1">
                <a:solidFill>
                  <a:srgbClr val="CFB991"/>
                </a:solidFill>
                <a:latin typeface="Arial"/>
                <a:ea typeface="Arial"/>
                <a:cs typeface="Arial"/>
              </a:defRPr>
            </a:pPr>
            <a:r>
              <a:rPr sz="3750" b="1">
                <a:solidFill>
                  <a:srgbClr val="CFB991"/>
                </a:solidFill>
                <a:latin typeface="Arial"/>
                <a:ea typeface="Arial"/>
                <a:cs typeface="Arial"/>
              </a:rPr>
              <a:t>02</a:t>
            </a:r>
          </a:p>
        </p:txBody>
      </p:sp>
      <p:sp>
        <p:nvSpPr>
          <p:cNvPr id="8" name="text">
            <a:extLst xmlns:a="http://schemas.openxmlformats.org/drawingml/2006/main">
              <a:ext uri="{FF2B5EF4-FFF2-40B4-BE49-F238E27FC236}">
                <a16:creationId xmlns:a16="http://schemas.microsoft.com/office/drawing/2014/main" id="{17812F67-F718-4735-82B7-FA3AE8271F7C}"/>
              </a:ext>
            </a:extLst>
          </p:cNvPr>
          <p:cNvSpPr>
            <a:spLocks xmlns:a="http://schemas.openxmlformats.org/drawingml/2006/main" noGrp="1"/>
          </p:cNvSpPr>
          <p:nvPr/>
        </p:nvSpPr>
        <p:spPr>
          <a:xfrm xmlns:a="http://schemas.openxmlformats.org/drawingml/2006/main">
            <a:off x="1600200" y="3238500"/>
            <a:ext cx="9810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325" b="1">
                <a:solidFill>
                  <a:srgbClr val="FFFFFF"/>
                </a:solidFill>
                <a:latin typeface="Arial"/>
                <a:ea typeface="Arial"/>
                <a:cs typeface="Arial"/>
              </a:defRPr>
            </a:pPr>
            <a:r>
              <a:rPr sz="2325" b="1">
                <a:solidFill>
                  <a:srgbClr val="FFFFFF"/>
                </a:solidFill>
                <a:latin typeface="Arial"/>
                <a:ea typeface="Arial"/>
                <a:cs typeface="Arial"/>
              </a:rPr>
              <a:t>Choose the capacitor coding</a:t>
            </a:r>
          </a:p>
        </p:txBody>
      </p:sp>
      <p:sp>
        <p:nvSpPr>
          <p:cNvPr id="9" name="text">
            <a:extLst xmlns:a="http://schemas.openxmlformats.org/drawingml/2006/main">
              <a:ext uri="{FF2B5EF4-FFF2-40B4-BE49-F238E27FC236}">
                <a16:creationId xmlns:a16="http://schemas.microsoft.com/office/drawing/2014/main" id="{37A285EC-19D7-4582-A07B-A7DEED33D42C}"/>
              </a:ext>
            </a:extLst>
          </p:cNvPr>
          <p:cNvSpPr>
            <a:spLocks xmlns:a="http://schemas.openxmlformats.org/drawingml/2006/main" noGrp="1"/>
          </p:cNvSpPr>
          <p:nvPr/>
        </p:nvSpPr>
        <p:spPr>
          <a:xfrm xmlns:a="http://schemas.openxmlformats.org/drawingml/2006/main">
            <a:off x="1600200" y="3705225"/>
            <a:ext cx="10001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75" b="0">
                <a:solidFill>
                  <a:srgbClr val="FFFFFF"/>
                </a:solidFill>
                <a:latin typeface="Arial"/>
                <a:ea typeface="Arial"/>
                <a:cs typeface="Arial"/>
              </a:defRPr>
            </a:pPr>
            <a:r>
              <a:rPr sz="1875" b="0">
                <a:solidFill>
                  <a:srgbClr val="FFFFFF"/>
                </a:solidFill>
                <a:latin typeface="Arial"/>
                <a:ea typeface="Arial"/>
                <a:cs typeface="Arial"/>
              </a:rPr>
              <a:t>Compare binary, thermometer and segmented arrays</a:t>
            </a:r>
          </a:p>
          <a:p xmlns:a="http://schemas.openxmlformats.org/drawingml/2006/main">
            <a:pPr>
              <a:defRPr sz="1875" b="0">
                <a:solidFill>
                  <a:srgbClr val="FFFFFF"/>
                </a:solidFill>
                <a:latin typeface="Arial"/>
                <a:ea typeface="Arial"/>
                <a:cs typeface="Arial"/>
              </a:defRPr>
            </a:pPr>
            <a:r>
              <a:rPr sz="1875" b="0">
                <a:solidFill>
                  <a:srgbClr val="FFFFFF"/>
                </a:solidFill>
                <a:latin typeface="Arial"/>
                <a:ea typeface="Arial"/>
                <a:cs typeface="Arial"/>
              </a:rPr>
              <a:t>for linearity, capacitance and control overhead</a:t>
            </a:r>
          </a:p>
        </p:txBody>
      </p:sp>
      <p:sp>
        <p:nvSpPr>
          <p:cNvPr id="10" name="text">
            <a:extLst xmlns:a="http://schemas.openxmlformats.org/drawingml/2006/main">
              <a:ext uri="{FF2B5EF4-FFF2-40B4-BE49-F238E27FC236}">
                <a16:creationId xmlns:a16="http://schemas.microsoft.com/office/drawing/2014/main" id="{89DD5D46-EEDE-4033-95F0-50E028E9605A}"/>
              </a:ext>
            </a:extLst>
          </p:cNvPr>
          <p:cNvSpPr>
            <a:spLocks xmlns:a="http://schemas.openxmlformats.org/drawingml/2006/main" noGrp="1"/>
          </p:cNvSpPr>
          <p:nvPr/>
        </p:nvSpPr>
        <p:spPr>
          <a:xfrm xmlns:a="http://schemas.openxmlformats.org/drawingml/2006/main">
            <a:off x="476250" y="4476750"/>
            <a:ext cx="952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750" b="1">
                <a:solidFill>
                  <a:srgbClr val="CFB991"/>
                </a:solidFill>
                <a:latin typeface="Arial"/>
                <a:ea typeface="Arial"/>
                <a:cs typeface="Arial"/>
              </a:defRPr>
            </a:pPr>
            <a:r>
              <a:rPr sz="3750" b="1">
                <a:solidFill>
                  <a:srgbClr val="CFB991"/>
                </a:solidFill>
                <a:latin typeface="Arial"/>
                <a:ea typeface="Arial"/>
                <a:cs typeface="Arial"/>
              </a:rPr>
              <a:t>03</a:t>
            </a:r>
          </a:p>
        </p:txBody>
      </p:sp>
      <p:sp>
        <p:nvSpPr>
          <p:cNvPr id="11" name="text">
            <a:extLst xmlns:a="http://schemas.openxmlformats.org/drawingml/2006/main">
              <a:ext uri="{FF2B5EF4-FFF2-40B4-BE49-F238E27FC236}">
                <a16:creationId xmlns:a16="http://schemas.microsoft.com/office/drawing/2014/main" id="{4C989A94-9CD4-4B07-89CE-1419C2D76535}"/>
              </a:ext>
            </a:extLst>
          </p:cNvPr>
          <p:cNvSpPr>
            <a:spLocks xmlns:a="http://schemas.openxmlformats.org/drawingml/2006/main" noGrp="1"/>
          </p:cNvSpPr>
          <p:nvPr/>
        </p:nvSpPr>
        <p:spPr>
          <a:xfrm xmlns:a="http://schemas.openxmlformats.org/drawingml/2006/main">
            <a:off x="1600200" y="4476750"/>
            <a:ext cx="9810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325" b="1">
                <a:solidFill>
                  <a:srgbClr val="FFFFFF"/>
                </a:solidFill>
                <a:latin typeface="Arial"/>
                <a:ea typeface="Arial"/>
                <a:cs typeface="Arial"/>
              </a:defRPr>
            </a:pPr>
            <a:r>
              <a:rPr sz="2325" b="1">
                <a:solidFill>
                  <a:srgbClr val="FFFFFF"/>
                </a:solidFill>
                <a:latin typeface="Arial"/>
                <a:ea typeface="Arial"/>
                <a:cs typeface="Arial"/>
              </a:rPr>
              <a:t>Build and verify in TSMC 180 nm</a:t>
            </a:r>
          </a:p>
        </p:txBody>
      </p:sp>
      <p:sp>
        <p:nvSpPr>
          <p:cNvPr id="12" name="text">
            <a:extLst xmlns:a="http://schemas.openxmlformats.org/drawingml/2006/main">
              <a:ext uri="{FF2B5EF4-FFF2-40B4-BE49-F238E27FC236}">
                <a16:creationId xmlns:a16="http://schemas.microsoft.com/office/drawing/2014/main" id="{D005053B-18A8-4B62-9CDF-8E10362B1A8E}"/>
              </a:ext>
            </a:extLst>
          </p:cNvPr>
          <p:cNvSpPr>
            <a:spLocks xmlns:a="http://schemas.openxmlformats.org/drawingml/2006/main" noGrp="1"/>
          </p:cNvSpPr>
          <p:nvPr/>
        </p:nvSpPr>
        <p:spPr>
          <a:xfrm xmlns:a="http://schemas.openxmlformats.org/drawingml/2006/main">
            <a:off x="1600200" y="4943475"/>
            <a:ext cx="10001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75" b="0">
                <a:solidFill>
                  <a:srgbClr val="FFFFFF"/>
                </a:solidFill>
                <a:latin typeface="Arial"/>
                <a:ea typeface="Arial"/>
                <a:cs typeface="Arial"/>
              </a:defRPr>
            </a:pPr>
            <a:r>
              <a:rPr sz="1875" b="0">
                <a:solidFill>
                  <a:srgbClr val="FFFFFF"/>
                </a:solidFill>
                <a:latin typeface="Arial"/>
                <a:ea typeface="Arial"/>
                <a:cs typeface="Arial"/>
              </a:rPr>
              <a:t>Cadence schematic, simulation, layout and extraction</a:t>
            </a:r>
          </a:p>
          <a:p xmlns:a="http://schemas.openxmlformats.org/drawingml/2006/main">
            <a:pPr>
              <a:defRPr sz="1875" b="0">
                <a:solidFill>
                  <a:srgbClr val="FFFFFF"/>
                </a:solidFill>
                <a:latin typeface="Arial"/>
                <a:ea typeface="Arial"/>
                <a:cs typeface="Arial"/>
              </a:defRPr>
            </a:pPr>
            <a:r>
              <a:rPr sz="1875" b="0">
                <a:solidFill>
                  <a:srgbClr val="FFFFFF"/>
                </a:solidFill>
                <a:latin typeface="Arial"/>
                <a:ea typeface="Arial"/>
                <a:cs typeface="Arial"/>
              </a:rPr>
              <a:t>Check settling, injection, leakage and cryogenic shifts</a:t>
            </a:r>
          </a:p>
        </p:txBody>
      </p:sp>
      <p:sp>
        <p:nvSpPr>
          <p:cNvPr id="13" name="text">
            <a:extLst xmlns:a="http://schemas.openxmlformats.org/drawingml/2006/main">
              <a:ext uri="{FF2B5EF4-FFF2-40B4-BE49-F238E27FC236}">
                <a16:creationId xmlns:a16="http://schemas.microsoft.com/office/drawing/2014/main" id="{AE5923AD-7E5B-4672-AA24-66865E391FB0}"/>
              </a:ext>
            </a:extLst>
          </p:cNvPr>
          <p:cNvSpPr>
            <a:spLocks xmlns:a="http://schemas.openxmlformats.org/drawingml/2006/main" noGrp="1"/>
          </p:cNvSpPr>
          <p:nvPr/>
        </p:nvSpPr>
        <p:spPr>
          <a:xfrm xmlns:a="http://schemas.openxmlformats.org/drawingml/2006/main">
            <a:off x="476250" y="5886450"/>
            <a:ext cx="111918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025" b="1">
                <a:solidFill>
                  <a:srgbClr val="CFB991"/>
                </a:solidFill>
                <a:latin typeface="Arial"/>
                <a:ea typeface="Arial"/>
                <a:cs typeface="Arial"/>
              </a:defRPr>
            </a:pPr>
            <a:r>
              <a:rPr sz="2025" b="1">
                <a:solidFill>
                  <a:srgbClr val="CFB991"/>
                </a:solidFill>
                <a:latin typeface="Arial"/>
                <a:ea typeface="Arial"/>
                <a:cs typeface="Arial"/>
              </a:rPr>
              <a:t>Success: accurate bias coverage with a defensible refresh and power budget</a:t>
            </a:r>
          </a:p>
        </p:txBody>
      </p:sp>
    </p:spTree>
    <p:extLst>
      <p:ext uri="{BB962C8B-B14F-4D97-AF65-F5344CB8AC3E}">
        <p14:creationId xmlns:p14="http://schemas.microsoft.com/office/powerpoint/2010/main" val="364731633"/>
      </p:ext>
    </p:extLst>
  </p:cSld>
</p:sld>
</file>

<file path=ppt/theme/theme1.xml><?xml version="1.0" encoding="utf-8"?>
<a:theme xmlns:a="http://schemas.openxmlformats.org/drawingml/2006/main" name="Purdue Unniversity Theme">
  <a:themeElements>
    <a:clrScheme name="Custom 1">
      <a:dk1>
        <a:srgbClr val="000000"/>
      </a:dk1>
      <a:lt1>
        <a:srgbClr val="FEFFFF"/>
      </a:lt1>
      <a:dk2>
        <a:srgbClr val="55585F"/>
      </a:dk2>
      <a:lt2>
        <a:srgbClr val="CECACB"/>
      </a:lt2>
      <a:accent1>
        <a:srgbClr val="CFB891"/>
      </a:accent1>
      <a:accent2>
        <a:srgbClr val="555960"/>
      </a:accent2>
      <a:accent3>
        <a:srgbClr val="8D6F3D"/>
      </a:accent3>
      <a:accent4>
        <a:srgbClr val="FFFFFF"/>
      </a:accent4>
      <a:accent5>
        <a:srgbClr val="DAAA00"/>
      </a:accent5>
      <a:accent6>
        <a:srgbClr val="9D9694"/>
      </a:accent6>
      <a:hlink>
        <a:srgbClr val="000000"/>
      </a:hlink>
      <a:folHlink>
        <a:srgbClr val="FEFFFF"/>
      </a:folHlink>
    </a:clrScheme>
    <a:fontScheme name="Arial">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ustom 1">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2026-09-20T00:45:48.5020000Z</dcterms:created>
  <dcterms:modified xsi:type="dcterms:W3CDTF">2026-09-20T00:45:48.5020000Z</dcterms:modified>
</coreProperties>
</file>