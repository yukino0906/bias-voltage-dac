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authors.xml" ContentType="application/vnd.ms-powerpoint.author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22b3835dbe4417b" /><Relationship Type="http://schemas.openxmlformats.org/officeDocument/2006/relationships/extended-properties" Target="/docProps/app.xml" Id="R56dd14baa81243be" /><Relationship Type="http://schemas.openxmlformats.org/officeDocument/2006/relationships/officeDocument" Target="/ppt/presentation.xml" Id="Rea4ed996b12d430b" /></Relationships>
</file>

<file path=ppt/presentation.xml><?xml version="1.0" encoding="utf-8"?>
<p:presentation xmlns:p="http://schemas.openxmlformats.org/presentationml/2006/main">
  <p:sldMasterIdLst>
    <p:sldMasterId xmlns:r="http://schemas.openxmlformats.org/officeDocument/2006/relationships" id="2147483648" r:id="R16c089817ea94fe5"/>
  </p:sldMasterIdLst>
  <p:notesMasterIdLst>
    <p:notesMasterId xmlns:r="http://schemas.openxmlformats.org/officeDocument/2006/relationships" r:id="Rf11dfa97fbcf4a0a"/>
  </p:notesMasterIdLst>
  <p:sldIdLst>
    <p:sldId xmlns:r="http://schemas.openxmlformats.org/officeDocument/2006/relationships" id="256" r:id="Rabe1a7324f3e4ef2"/>
    <p:sldId xmlns:r="http://schemas.openxmlformats.org/officeDocument/2006/relationships" id="257" r:id="R847d50570f3a4b4b"/>
    <p:sldId xmlns:r="http://schemas.openxmlformats.org/officeDocument/2006/relationships" id="258" r:id="R6b9e7df0028d4129"/>
    <p:sldId xmlns:r="http://schemas.openxmlformats.org/officeDocument/2006/relationships" id="259" r:id="R4db5958913914e1e"/>
    <p:sldId xmlns:r="http://schemas.openxmlformats.org/officeDocument/2006/relationships" id="260" r:id="Rc0d2f31c202243d1"/>
    <p:sldId xmlns:r="http://schemas.openxmlformats.org/officeDocument/2006/relationships" id="261" r:id="R8e54b354553342a2"/>
    <p:sldId xmlns:r="http://schemas.openxmlformats.org/officeDocument/2006/relationships" id="262" r:id="R89db55fa2dda4020"/>
  </p:sldIdLst>
  <p:sldSz cx="12192000" cy="6858000"/>
  <p:notesSz cx="6858000" cy="9144000"/>
</p:presentation>
</file>

<file path=ppt/authors.xml><?xml version="1.0" encoding="utf-8"?>
<p188:authorLst xmlns:p188="http://schemas.microsoft.com/office/powerpoint/2018/8/main">
  <p188:author id="{A26CE219-6CB4-4D82-2315-C217F06FFCCD}" name="Hiller, Kelly R" initials="HKR" userId="S::khiller@purdue.edu::b25b1487-7f5e-4b7f-a0b2-f8bcb0b1ea5a" providerId="AD"/>
</p188:authorLst>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659a550055f14878" /><Relationship Type="http://schemas.openxmlformats.org/officeDocument/2006/relationships/slideMaster" Target="/ppt/slideMasters/slideMaster1.xml" Id="R16c089817ea94fe5" /><Relationship Type="http://schemas.openxmlformats.org/officeDocument/2006/relationships/notesMaster" Target="/ppt/notesMasters/notesMaster1.xml" Id="Rf11dfa97fbcf4a0a" /><Relationship Type="http://schemas.openxmlformats.org/officeDocument/2006/relationships/presProps" Target="/ppt/presProps.xml" Id="R73500353ada7428d" /><Relationship Type="http://schemas.openxmlformats.org/officeDocument/2006/relationships/viewProps" Target="/ppt/viewProps.xml" Id="Redd5083594f44ec0" /><Relationship Type="http://schemas.openxmlformats.org/officeDocument/2006/relationships/tableStyles" Target="/ppt/tableStyles.xml" Id="R447c57ca62d04019" /><Relationship Type="http://schemas.microsoft.com/office/2018/10/relationships/authors" Target="/ppt/authors.xml" Id="Ra8c05bb78dec4d8a" /><Relationship Type="http://schemas.openxmlformats.org/officeDocument/2006/relationships/slide" Target="/ppt/slides/slide1.xml" Id="Rabe1a7324f3e4ef2" /><Relationship Type="http://schemas.openxmlformats.org/officeDocument/2006/relationships/slide" Target="/ppt/slides/slide2.xml" Id="R847d50570f3a4b4b" /><Relationship Type="http://schemas.openxmlformats.org/officeDocument/2006/relationships/slide" Target="/ppt/slides/slide3.xml" Id="R6b9e7df0028d4129" /><Relationship Type="http://schemas.openxmlformats.org/officeDocument/2006/relationships/slide" Target="/ppt/slides/slide4.xml" Id="R4db5958913914e1e" /><Relationship Type="http://schemas.openxmlformats.org/officeDocument/2006/relationships/slide" Target="/ppt/slides/slide5.xml" Id="Rc0d2f31c202243d1" /><Relationship Type="http://schemas.openxmlformats.org/officeDocument/2006/relationships/slide" Target="/ppt/slides/slide6.xml" Id="R8e54b354553342a2" /><Relationship Type="http://schemas.openxmlformats.org/officeDocument/2006/relationships/slide" Target="/ppt/slides/slide7.xml" Id="R89db55fa2dda402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f79ade928a548e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Purdue Unniversity Theme">
  <a:themeElements>
    <a:clrScheme name="Custom 1">
      <a:dk1>
        <a:srgbClr val="000000"/>
      </a:dk1>
      <a:lt1>
        <a:srgbClr val="FEFFFF"/>
      </a:lt1>
      <a:dk2>
        <a:srgbClr val="55585F"/>
      </a:dk2>
      <a:lt2>
        <a:srgbClr val="CECACB"/>
      </a:lt2>
      <a:accent1>
        <a:srgbClr val="CFB891"/>
      </a:accent1>
      <a:accent2>
        <a:srgbClr val="555960"/>
      </a:accent2>
      <a:accent3>
        <a:srgbClr val="8D6F3D"/>
      </a:accent3>
      <a:accent4>
        <a:srgbClr val="FFFFFF"/>
      </a:accent4>
      <a:accent5>
        <a:srgbClr val="DAAA00"/>
      </a:accent5>
      <a:accent6>
        <a:srgbClr val="9D9694"/>
      </a:accent6>
      <a:hlink>
        <a:srgbClr val="000000"/>
      </a:hlink>
      <a:folHlink>
        <a:srgbClr val="FEFFFF"/>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ustom 1">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559bb65e1a14117" /><Relationship Type="http://schemas.openxmlformats.org/officeDocument/2006/relationships/notesMaster" Target="/ppt/notesMasters/notesMaster1.xml" Id="R09b2492cabdb4a99" /></Relationships>
</file>

<file path=ppt/notesSlides/_rels/notesSlide2.xml.rels>&#65279;<?xml version="1.0" encoding="utf-8"?><Relationships xmlns="http://schemas.openxmlformats.org/package/2006/relationships"><Relationship Type="http://schemas.openxmlformats.org/officeDocument/2006/relationships/slide" Target="/ppt/slides/slide2.xml" Id="R3114bf0f5f83483c" /><Relationship Type="http://schemas.openxmlformats.org/officeDocument/2006/relationships/notesMaster" Target="/ppt/notesMasters/notesMaster1.xml" Id="Rfa07e8056b8d4494" /></Relationships>
</file>

<file path=ppt/notesSlides/_rels/notesSlide3.xml.rels>&#65279;<?xml version="1.0" encoding="utf-8"?><Relationships xmlns="http://schemas.openxmlformats.org/package/2006/relationships"><Relationship Type="http://schemas.openxmlformats.org/officeDocument/2006/relationships/slide" Target="/ppt/slides/slide3.xml" Id="R68230bef0b5b44dd" /><Relationship Type="http://schemas.openxmlformats.org/officeDocument/2006/relationships/notesMaster" Target="/ppt/notesMasters/notesMaster1.xml" Id="R71f8f46a57b6477b" /></Relationships>
</file>

<file path=ppt/notesSlides/_rels/notesSlide4.xml.rels>&#65279;<?xml version="1.0" encoding="utf-8"?><Relationships xmlns="http://schemas.openxmlformats.org/package/2006/relationships"><Relationship Type="http://schemas.openxmlformats.org/officeDocument/2006/relationships/slide" Target="/ppt/slides/slide4.xml" Id="R86aa0ac0536a4fdd" /><Relationship Type="http://schemas.openxmlformats.org/officeDocument/2006/relationships/notesMaster" Target="/ppt/notesMasters/notesMaster1.xml" Id="R91829c83d0794fec" /></Relationships>
</file>

<file path=ppt/notesSlides/_rels/notesSlide5.xml.rels>&#65279;<?xml version="1.0" encoding="utf-8"?><Relationships xmlns="http://schemas.openxmlformats.org/package/2006/relationships"><Relationship Type="http://schemas.openxmlformats.org/officeDocument/2006/relationships/slide" Target="/ppt/slides/slide5.xml" Id="Rcbd5f0003ca049e9" /><Relationship Type="http://schemas.openxmlformats.org/officeDocument/2006/relationships/notesMaster" Target="/ppt/notesMasters/notesMaster1.xml" Id="R841e42d9b2a94e77" /></Relationships>
</file>

<file path=ppt/notesSlides/_rels/notesSlide6.xml.rels>&#65279;<?xml version="1.0" encoding="utf-8"?><Relationships xmlns="http://schemas.openxmlformats.org/package/2006/relationships"><Relationship Type="http://schemas.openxmlformats.org/officeDocument/2006/relationships/slide" Target="/ppt/slides/slide6.xml" Id="R21cd0a5bf0ba431c" /><Relationship Type="http://schemas.openxmlformats.org/officeDocument/2006/relationships/notesMaster" Target="/ppt/notesMasters/notesMaster1.xml" Id="Rd9d9a003e5eb4f88" /></Relationships>
</file>

<file path=ppt/notesSlides/_rels/notesSlide7.xml.rels>&#65279;<?xml version="1.0" encoding="utf-8"?><Relationships xmlns="http://schemas.openxmlformats.org/package/2006/relationships"><Relationship Type="http://schemas.openxmlformats.org/officeDocument/2006/relationships/slide" Target="/ppt/slides/slide7.xml" Id="R2330145f9db84cde" /><Relationship Type="http://schemas.openxmlformats.org/officeDocument/2006/relationships/notesMaster" Target="/ppt/notesMasters/notesMaster1.xml" Id="Rf8a4486f637b409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0:00–0:35 (35 s)</a:t>
            </a:r>
          </a:p>
          <a:p xmlns:a="http://schemas.openxmlformats.org/drawingml/2006/main">
            <a:r>
              <a:t/>
            </a:r>
          </a:p>
          <a:p xmlns:a="http://schemas.openxmlformats.org/drawingml/2006/main">
            <a:r>
              <a:t>SCRIPT</a:t>
            </a:r>
          </a:p>
          <a:p xmlns:a="http://schemas.openxmlformats.org/drawingml/2006/main">
            <a:r>
              <a:t>Our project is a bias voltage DAC for cryogenic solid-state qubit control. Quantum-dot gates need precise DC voltages to set their operating points. As channel count grows, bringing every analog connection from room temperature creates a wiring bottleneck. Moving the electronics closer to the qubits helps, but adds heat inside the cryostat. We want one low-power DAC to generate and hold multiple accurate bias voltages. Our current progress is behavioral modeling and early circuit setup.</a:t>
            </a:r>
          </a:p>
          <a:p xmlns:a="http://schemas.openxmlformats.org/drawingml/2006/main">
            <a:r>
              <a:t/>
            </a:r>
          </a:p>
          <a:p xmlns:a="http://schemas.openxmlformats.org/drawingml/2006/main">
            <a:r>
              <a:t>SOURCES</a:t>
            </a:r>
          </a:p>
          <a:p xmlns:a="http://schemas.openxmlformats.org/drawingml/2006/main">
            <a:r>
              <a:t>[1] P. Vliex et al., "Bias Voltage DAC Operating at Cryogenic Temperatures for Solid-State Qubit Applications," IEEE Solid-State Circuits Letters, vol. 3, pp. 218–221, 2020. https://doi.org/10.1109/LSSC.2020.3011576 Sections I–II.</a:t>
            </a:r>
          </a:p>
          <a:p xmlns:a="http://schemas.openxmlformats.org/drawingml/2006/main">
            <a:r>
              <a:t>AMS_Senior_Design_Pitch_Reference.docx, Section 4, Bias Voltage DAC / Cryo-CMOS (Fall 2026).</a:t>
            </a:r>
          </a:p>
          <a:p xmlns:a="http://schemas.openxmlformats.org/drawingml/2006/main">
            <a:r>
              <a:t/>
            </a:r>
          </a:p>
          <a:p xmlns:a="http://schemas.openxmlformats.org/drawingml/2006/main">
            <a:r>
              <a:t>TECHNICAL BACKUP</a:t>
            </a:r>
          </a:p>
          <a:p xmlns:a="http://schemas.openxmlformats.org/drawingml/2006/main">
            <a:r>
              <a:t>Application focus is quantum-dot spin qubits. This is a project proposal, not a claim of fabricated hardware or cryogenic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0:35–1:15 (40 s)</a:t>
            </a:r>
          </a:p>
          <a:p xmlns:a="http://schemas.openxmlformats.org/drawingml/2006/main">
            <a:r>
              <a:t/>
            </a:r>
          </a:p>
          <a:p xmlns:a="http://schemas.openxmlformats.org/drawingml/2006/main">
            <a:r>
              <a:t>SCRIPT</a:t>
            </a:r>
          </a:p>
          <a:p xmlns:a="http://schemas.openxmlformats.org/drawingml/2006/main">
            <a:r>
              <a:t>Our literature-informed targets are a zero-to-one-volt output range, a thirteen-bit nominal code grid, and eight independently held outputs. Thirteen bits gives about one hundred twenty-five microvolts per step and provides margin over the twelve-bit application requirement. Periodic refresh counters storage leakage. Power should stay in the microwatt-per-channel range. Vliex and colleagues reported six-kelvin measurements and about two-point-seven microwatts per channel in sixty-five-nanometer CMOS. Those are literature benchmarks. We still need to establish our own accuracy and power in the one-eighty-nanometer design.</a:t>
            </a:r>
          </a:p>
          <a:p xmlns:a="http://schemas.openxmlformats.org/drawingml/2006/main">
            <a:r>
              <a:t/>
            </a:r>
          </a:p>
          <a:p xmlns:a="http://schemas.openxmlformats.org/drawingml/2006/main">
            <a:r>
              <a:t>SOURCES</a:t>
            </a:r>
          </a:p>
          <a:p xmlns:a="http://schemas.openxmlformats.org/drawingml/2006/main">
            <a:r>
              <a:t>[1] P. Vliex et al., "Bias Voltage DAC Operating at Cryogenic Temperatures for Solid-State Qubit Applications," IEEE Solid-State Circuits Letters, vol. 3, pp. 218–221, 2020. https://doi.org/10.1109/LSSC.2020.3011576 Sections II, IV-C, Table II, Conclusion.</a:t>
            </a:r>
          </a:p>
          <a:p xmlns:a="http://schemas.openxmlformats.org/drawingml/2006/main">
            <a:r>
              <a:t>AMS_Senior_Design_Pitch_Reference.docx, Section 4, Bias Voltage DAC / Cryo-CMOS (Fall 2026).</a:t>
            </a:r>
          </a:p>
          <a:p xmlns:a="http://schemas.openxmlformats.org/drawingml/2006/main">
            <a:r>
              <a:t/>
            </a:r>
          </a:p>
          <a:p xmlns:a="http://schemas.openxmlformats.org/drawingml/2006/main">
            <a:r>
              <a:t>TECHNICAL BACKUP</a:t>
            </a:r>
          </a:p>
          <a:p xmlns:a="http://schemas.openxmlformats.org/drawingml/2006/main">
            <a:r>
              <a:t>1 V / 8192 = 122.07 µV. 1 V / 4096 = 244.14 µV. Nominal resolution does not establish ENOB, absolute accuracy, or measured linearity. Table II: DAC total 21.1 µW for eight channels, plus 4.3 µW clock buffer = 25.4 µW total. The ≈2.7 µW/ch headline follows the paper abstract/conclusion and excludes that separate clock-buffer contribution. Final temperature, power budget and load specification remain to be agreed. No 65 nm power projection is claimed for TSMC 180 nm.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1:15–2:05 (50 s)</a:t>
            </a:r>
          </a:p>
          <a:p xmlns:a="http://schemas.openxmlformats.org/drawingml/2006/main">
            <a:r>
              <a:t/>
            </a:r>
          </a:p>
          <a:p xmlns:a="http://schemas.openxmlformats.org/drawingml/2006/main">
            <a:r>
              <a:t>SCRIPT</a:t>
            </a:r>
          </a:p>
          <a:p xmlns:a="http://schemas.openxmlformats.org/drawingml/2006/main">
            <a:r>
              <a:t>This schematic is adapted from Figures two and three of the 2020 paper by Vliex and colleagues, identified in full at the bottom of this slide. The ten-bit fine DAC uses two binary-weighted capacitor subarrays linked by an attenuation capacitor. Selecting upper and lower references adds eight coarse regions. A demultiplexer connects the shared DAC to eight storage capacitors. Repeated charge sharing charges each output without a continuous output buffer. Switching and digital control still consume power. The parasitic capacitance, lower-reference reset and leakage shown here are added modeling assumptions. We will compare this split array against plain binary and segmented alternatives.</a:t>
            </a:r>
          </a:p>
          <a:p xmlns:a="http://schemas.openxmlformats.org/drawingml/2006/main">
            <a:r>
              <a:t/>
            </a:r>
          </a:p>
          <a:p xmlns:a="http://schemas.openxmlformats.org/drawingml/2006/main">
            <a:r>
              <a:t>SOURCES</a:t>
            </a:r>
          </a:p>
          <a:p xmlns:a="http://schemas.openxmlformats.org/drawingml/2006/main">
            <a:r>
              <a:t>[1] P. Vliex et al., "Bias Voltage DAC Operating at Cryogenic Temperatures for Solid-State Qubit Applications," IEEE Solid-State Circuits Letters, vol. 3, pp. 218–221, 2020. https://doi.org/10.1109/LSSC.2020.3011576 Section III, Figs. 2 and 3.</a:t>
            </a:r>
          </a:p>
          <a:p xmlns:a="http://schemas.openxmlformats.org/drawingml/2006/main">
            <a:r>
              <a:t>Project: docs/figures/cr_dac_topology.png, model/draw_cr_dac_topology.py, model/bias_dac_v2.py.</a:t>
            </a:r>
          </a:p>
          <a:p xmlns:a="http://schemas.openxmlformats.org/drawingml/2006/main">
            <a:r>
              <a:t/>
            </a:r>
          </a:p>
          <a:p xmlns:a="http://schemas.openxmlformats.org/drawingml/2006/main">
            <a:r>
              <a:t>TECHNICAL BACKUP</a:t>
            </a:r>
          </a:p>
          <a:p xmlns:a="http://schemas.openxmlformats.org/drawingml/2006/main">
            <a:r>
              <a:t>Original project schematic is reused as an image excerpt. Its parasitic capacitor, reset-to-VL choice and leakage source represent modeling assumptions/inferences. Buffer-less storage generally requires multiple refreshes to settle. The ideal capacitor core has no continuous bias-current path, but the complete system does not have zero static or total power.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2:05–2:55 (50 s)</a:t>
            </a:r>
          </a:p>
          <a:p xmlns:a="http://schemas.openxmlformats.org/drawingml/2006/main">
            <a:r>
              <a:t/>
            </a:r>
          </a:p>
          <a:p xmlns:a="http://schemas.openxmlformats.org/drawingml/2006/main">
            <a:r>
              <a:t>SCRIPT</a:t>
            </a:r>
          </a:p>
          <a:p xmlns:a="http://schemas.openxmlformats.org/drawingml/2006/main">
            <a:r>
              <a:t>The current behavioral model exposes a gap at coarse-region boundaries. Parasitic capacitance reduces the fine-DAC span, so advancing the coarse reference can skip a voltage range. This example shows an eight-millivolt jump. Gain-and-offset calibration changes the mapping, but cannot create missing output levels. The right plot applies the paper’s intermediate-span idea: use a wider reference span briefly to add those levels. The maximum adjacent gap falls from about sixty-six-and-a-half to one-point-nine nominal LSBs. These are our model results under stated assumptions. The intermediate steps are coarser, and full-scale endpoint coverage remains unresolved.</a:t>
            </a:r>
          </a:p>
          <a:p xmlns:a="http://schemas.openxmlformats.org/drawingml/2006/main">
            <a:r>
              <a:t/>
            </a:r>
          </a:p>
          <a:p xmlns:a="http://schemas.openxmlformats.org/drawingml/2006/main">
            <a:r>
              <a:t>SOURCES</a:t>
            </a:r>
          </a:p>
          <a:p xmlns:a="http://schemas.openxmlformats.org/drawingml/2006/main">
            <a:r>
              <a:t>Project: docs/figures/v2_coarse_jump_compensation.png; model/bias_dac_v2.py, plot_coarse_jump_and_compensation(), intermediate_sequence(), coverage().</a:t>
            </a:r>
          </a:p>
          <a:p xmlns:a="http://schemas.openxmlformats.org/drawingml/2006/main">
            <a:r>
              <a:t>[1] P. Vliex et al., "Bias Voltage DAC Operating at Cryogenic Temperatures for Solid-State Qubit Applications," IEEE Solid-State Circuits Letters, vol. 3, pp. 218–221, 2020. https://doi.org/10.1109/LSSC.2020.3011576 Section IV-C and Fig. 9.</a:t>
            </a:r>
          </a:p>
          <a:p xmlns:a="http://schemas.openxmlformats.org/drawingml/2006/main">
            <a:r>
              <a:t/>
            </a:r>
          </a:p>
          <a:p xmlns:a="http://schemas.openxmlformats.org/drawingml/2006/main">
            <a:r>
              <a:t>TECHNICAL BACKUP</a:t>
            </a:r>
          </a:p>
          <a:p xmlns:a="http://schemas.openxmlformats.org/drawingml/2006/main">
            <a:r>
              <a:t>These are project behavioral simulations, not reproduction of measured silicon. The two plotted panels are reused from the original figure. α=0.064 is a paper-informed modeling point, not an extracted 180 nm parasitic. Plot (a) uses DAC input word; plot (b) uses sequence index after added settings. Maximum adjacent achievable-voltage gap: 66.5 LSB before and 1.9 LSB after intermediate steps. That metric does not include missing full-scale endpoint coverage. The repo’s target-distance plot shows a remaining top-of-range error near 1 V, so do not claim &lt;1 LSB accuracy over the complete range. Nominal 13-bit LSB =122.07 µV; the inserted settings use a 250 mV reference span.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2:55–4:10 (75 s)</a:t>
            </a:r>
          </a:p>
          <a:p xmlns:a="http://schemas.openxmlformats.org/drawingml/2006/main">
            <a:r>
              <a:t/>
            </a:r>
          </a:p>
          <a:p xmlns:a="http://schemas.openxmlformats.org/drawingml/2006/main">
            <a:r>
              <a:t>SCRIPT</a:t>
            </a:r>
          </a:p>
          <a:p xmlns:a="http://schemas.openxmlformats.org/drawingml/2006/main">
            <a:r>
              <a:t>There are four main challenges. First, capacitor mismatch and parasitics affect DNL, INL and output coverage. We will compare coding options and combine region overlap with calibration. Second, leakage sets a tradeoff between held-voltage droop and refresh power. The storage capacitor and refresh rate must come from an extracted leakage budget, rather than assuming the literature’s refresh rate will work for our circuit. Third, real switches introduce finite settling and charge injection. These effects require transistor-level timing and sizing checks because the current model does not fully capture them. Fourth, standard room-temperature device models may not predict cryogenic behavior. We need validated cryogenic models where available. Otherwise, parameter sensitivity studies can bound risk, but cannot prove operation at cryogenic temperature.</a:t>
            </a:r>
          </a:p>
          <a:p xmlns:a="http://schemas.openxmlformats.org/drawingml/2006/main">
            <a:r>
              <a:t/>
            </a:r>
          </a:p>
          <a:p xmlns:a="http://schemas.openxmlformats.org/drawingml/2006/main">
            <a:r>
              <a:t>SOURCES</a:t>
            </a:r>
          </a:p>
          <a:p xmlns:a="http://schemas.openxmlformats.org/drawingml/2006/main">
            <a:r>
              <a:t>Project: docs/phase2_cryo_architecture_research.md, Sections 5, 8–10; model/bias_dac_v2.py; spice/README.md.</a:t>
            </a:r>
          </a:p>
          <a:p xmlns:a="http://schemas.openxmlformats.org/drawingml/2006/main">
            <a:r>
              <a:t/>
            </a:r>
          </a:p>
          <a:p xmlns:a="http://schemas.openxmlformats.org/drawingml/2006/main">
            <a:r>
              <a:t>TECHNICAL BACKUP</a:t>
            </a:r>
          </a:p>
          <a:p xmlns:a="http://schemas.openxmlformats.org/drawingml/2006/main">
            <a:r>
              <a:t>The behavioral model supports mismatch, parasitic, gain/offset and leakage studies. Finite switch resistance, charge injection and a calibrated cryogenic device layer need further work. A room-temperature PDK does not establish cryogenic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4:10–5:00 (50 s)</a:t>
            </a:r>
          </a:p>
          <a:p xmlns:a="http://schemas.openxmlformats.org/drawingml/2006/main">
            <a:r>
              <a:t/>
            </a:r>
          </a:p>
          <a:p xmlns:a="http://schemas.openxmlformats.org/drawingml/2006/main">
            <a:r>
              <a:t>SCRIPT</a:t>
            </a:r>
          </a:p>
          <a:p xmlns:a="http://schemas.openxmlformats.org/drawingml/2006/main">
            <a:r>
              <a:t>The implementation plan follows those challenges. First, close range gaps and check endpoint coverage using intermediate settings or intentional overlap, with digital gain-and-offset compensation. Second, select a capacitor coding scheme using a common linearity and capacitance budget. Third, build the TSMC one-eighty-nanometer circuit in Cadence, verify schematics, and then check layout extraction. We will evaluate settling, injection, leakage and power, including the digital and refresh overhead. Success is a DAC with the required bias coverage and a refresh and power budget supported by circuit results. The next slide contains backup simulations for discussion.</a:t>
            </a:r>
          </a:p>
          <a:p xmlns:a="http://schemas.openxmlformats.org/drawingml/2006/main">
            <a:r>
              <a:t/>
            </a:r>
          </a:p>
          <a:p xmlns:a="http://schemas.openxmlformats.org/drawingml/2006/main">
            <a:r>
              <a:t>SOURCES</a:t>
            </a:r>
          </a:p>
          <a:p xmlns:a="http://schemas.openxmlformats.org/drawingml/2006/main">
            <a:r>
              <a:t>Project: docs/phase2_cryo_architecture_research.md, Sections 7–10; spice/README.md; model/bias_dac_v2.py.</a:t>
            </a:r>
          </a:p>
          <a:p xmlns:a="http://schemas.openxmlformats.org/drawingml/2006/main">
            <a:r>
              <a:t>AMS_Senior_Design_Pitch_Reference.docx, Section 4, Bias Voltage DAC / Cryo-CMOS (Fall 2026).</a:t>
            </a:r>
          </a:p>
          <a:p xmlns:a="http://schemas.openxmlformats.org/drawingml/2006/main">
            <a:r>
              <a:t>TSMC 180 nm Cadence implementation is the user-specified project direction.</a:t>
            </a:r>
          </a:p>
          <a:p xmlns:a="http://schemas.openxmlformats.org/drawingml/2006/main">
            <a:r>
              <a:t/>
            </a:r>
          </a:p>
          <a:p xmlns:a="http://schemas.openxmlformats.org/drawingml/2006/main">
            <a:r>
              <a:t>TECHNICAL BACKUP</a:t>
            </a:r>
          </a:p>
          <a:p xmlns:a="http://schemas.openxmlformats.org/drawingml/2006/main">
            <a:r>
              <a:t>Checked-in SPICE files currently use ideal switches and behavioral sources; README marks them unverified by simulation. Do not describe them as completed transistor-level validation. Charge injection, switch Ron, noise, cryogenic parameter shifts, and post-layout parasitics require additional modeling or circuit evaluation. Standard PDK corners alone do not establish operation at 6 K. Retain temperature and leakage sensitivity studies if validated cryogenic compact models are unavailable.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 outside the 5-minute presentation</a:t>
            </a:r>
          </a:p>
          <a:p xmlns:a="http://schemas.openxmlformats.org/drawingml/2006/main">
            <a:r>
              <a:t/>
            </a:r>
          </a:p>
          <a:p xmlns:a="http://schemas.openxmlformats.org/drawingml/2006/main">
            <a:r>
              <a:t>SCRIPT</a:t>
            </a:r>
          </a:p>
          <a:p xmlns:a="http://schemas.openxmlformats.org/drawingml/2006/main">
            <a:r>
              <a:t>The behavioral model lets us compare nonidealities before building the full circuit. On the left, the existing mismatch sweep shows that segmented coding has lower differential nonlinearity than the split array with an attenuation capacitor under these assumptions. The paper marker is only a reference comparison. On the right, leakage pulls the held voltage away from its target between refreshes. With one picoamp of leakage and a one-picofarad storage capacitor, the modeled droop is about two hundred fifty-six microvolts per period at three-point-nine kilohertz. Faster refresh reduces droop but raises switching activity. These studies guide the architecture, but they do not yet establish silicon accuracy or cryogenic performance.</a:t>
            </a:r>
          </a:p>
          <a:p xmlns:a="http://schemas.openxmlformats.org/drawingml/2006/main">
            <a:r>
              <a:t/>
            </a:r>
          </a:p>
          <a:p xmlns:a="http://schemas.openxmlformats.org/drawingml/2006/main">
            <a:r>
              <a:t>SOURCES</a:t>
            </a:r>
          </a:p>
          <a:p xmlns:a="http://schemas.openxmlformats.org/drawingml/2006/main">
            <a:r>
              <a:t>Project: model/bias_dac_v2.py, plot_mismatch_sweep() and plot_sh_refresh(); docs/figures/v2_mismatch_sweep.png and v2_sh_refresh_leakage.png.</a:t>
            </a:r>
          </a:p>
          <a:p xmlns:a="http://schemas.openxmlformats.org/drawingml/2006/main">
            <a:r>
              <a:t>[1] P. Vliex et al., "Bias Voltage DAC Operating at Cryogenic Temperatures for Solid-State Qubit Applications," IEEE Solid-State Circuits Letters, vol. 3, pp. 218–221, 2020. https://doi.org/10.1109/LSSC.2020.3011576 Eq. (1) and Fig. 8(f), for markers already present in the project figure.</a:t>
            </a:r>
          </a:p>
          <a:p xmlns:a="http://schemas.openxmlformats.org/drawingml/2006/main">
            <a:r>
              <a:t/>
            </a:r>
          </a:p>
          <a:p xmlns:a="http://schemas.openxmlformats.org/drawingml/2006/main">
            <a:r>
              <a:t>TECHNICAL BACKUP</a:t>
            </a:r>
          </a:p>
          <a:p xmlns:a="http://schemas.openxmlformats.org/drawingml/2006/main">
            <a:r>
              <a:t>Mismatch plot uses 150 seeds at each sigma point, per the checked-in code. The plotted statistic is mean maximum absolute DNL for a 10-bit fine DAC; the paper measured sigma_D marker is a different statistic and not a direct validation. S&amp;H panel is the middle panel of the original image, retaining axes and legend. Droop per period is 256.4 µV at 3.9 kHz and 2.6 µV at 390 kHz for I/C=1 A/F. Absolute storage error can exceed one-period droop because of finite charge sharing. The model includes gain/offset and parasitic effects; switch charge injection, finite Ron, noise and a calibrated cryogenic parameter layer remain future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02d42524bce4722" /><Relationship Type="http://schemas.openxmlformats.org/officeDocument/2006/relationships/image" Target="/ppt/media/image.png" Id="R310ab44bc440429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876c31abcad4657" /><Relationship Type="http://schemas.openxmlformats.org/officeDocument/2006/relationships/image" Target="/ppt/media/image2.png" Id="R17971e24e0404c79" /></Relationships>
</file>

<file path=ppt/slideLayouts/slideLayout1.xml><?xml version="1.0" encoding="utf-8"?>
<p:sldLayout xmlns:p="http://schemas.openxmlformats.org/presentationml/2006/main" preserve="1" userDrawn="1">
  <p:cSld name="BodySlide-White-TopLogo">
    <p:spTree>
      <p:nvGrpSpPr>
        <p:cNvPr id="1" name=""/>
        <p:cNvGrpSpPr/>
        <p:nvPr/>
      </p:nvGrpSpPr>
      <p:grpSpPr>
        <a:xfrm xmlns:a="http://schemas.openxmlformats.org/drawingml/2006/main"/>
      </p:grpSpPr>
      <p:sp>
        <p:nvSpPr>
          <p:cNvPr id="8" name="Straight Connector 7">
            <a:extLst xmlns:a="http://schemas.openxmlformats.org/drawingml/2006/main">
              <a:ext uri="{FF2B5EF4-FFF2-40B4-BE49-F238E27FC236}">
                <a16:creationId xmlns:a16="http://schemas.microsoft.com/office/drawing/2014/main" id="{A2A38340-27A3-4266-A2FA-90EBE9F41F75}"/>
              </a:ext>
            </a:extLst>
          </p:cNvPr>
          <p:cNvSpPr>
            <a:spLocks xmlns:a="http://schemas.openxmlformats.org/drawingml/2006/main" noGrp="1"/>
          </p:cNvSpPr>
          <p:nvPr/>
        </p:nvSpPr>
        <p:spPr>
          <a:xfrm xmlns:a="http://schemas.openxmlformats.org/drawingml/2006/main" flipH="1">
            <a:off x="446468" y="383880"/>
            <a:ext cx="8651812" cy="11359"/>
          </a:xfrm>
          <a:prstGeom xmlns:a="http://schemas.openxmlformats.org/drawingml/2006/main" prst="line">
            <a:avLst/>
          </a:prstGeom>
          <a:ln xmlns:a="http://schemas.openxmlformats.org/drawingml/2006/main" w="28575">
            <a:solidFill>
              <a:schemeClr val="accent3"/>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6" name="Straight Connector 5">
            <a:extLst xmlns:a="http://schemas.openxmlformats.org/drawingml/2006/main">
              <a:ext uri="{FF2B5EF4-FFF2-40B4-BE49-F238E27FC236}">
                <a16:creationId xmlns:a16="http://schemas.microsoft.com/office/drawing/2014/main" id="{F597A494-906A-4981-8C44-F4FADD05B9D9}"/>
              </a:ext>
            </a:extLst>
          </p:cNvPr>
          <p:cNvSpPr>
            <a:spLocks xmlns:a="http://schemas.openxmlformats.org/drawingml/2006/main" noGrp="1"/>
          </p:cNvSpPr>
          <p:nvPr/>
        </p:nvSpPr>
        <p:spPr>
          <a:xfrm xmlns:a="http://schemas.openxmlformats.org/drawingml/2006/main" flipH="1">
            <a:off x="446468" y="6483231"/>
            <a:ext cx="10738263" cy="0"/>
          </a:xfrm>
          <a:prstGeom xmlns:a="http://schemas.openxmlformats.org/drawingml/2006/main" prst="line">
            <a:avLst/>
          </a:prstGeom>
          <a:ln xmlns:a="http://schemas.openxmlformats.org/drawingml/2006/main" w="28575">
            <a:solidFill>
              <a:schemeClr val="accent3"/>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pic>
        <p:nvPicPr>
          <p:cNvPr id="12" name="Picture 3"/>
          <p:cNvPicPr>
            <a:picLocks xmlns:a="http://schemas.openxmlformats.org/drawingml/2006/main" noChangeAspect="1"/>
          </p:cNvPicPr>
          <p:nvPr/>
        </p:nvPicPr>
        <p:blipFill>
          <a:blip xmlns:r="http://schemas.openxmlformats.org/officeDocument/2006/relationships" xmlns:a="http://schemas.openxmlformats.org/drawingml/2006/main" r:embed="R310ab44bc440429b"/>
          <a:stretch xmlns:a="http://schemas.openxmlformats.org/drawingml/2006/main">
            <a:fillRect l="0" t="0" r="0" b="0"/>
          </a:stretch>
        </p:blipFill>
        <p:spPr>
          <a:xfrm xmlns:a="http://schemas.openxmlformats.org/drawingml/2006/main">
            <a:off x="9615698" y="356067"/>
            <a:ext cx="2129834" cy="381235"/>
          </a:xfrm>
          <a:prstGeom xmlns:a="http://schemas.openxmlformats.org/drawingml/2006/main" prst="rect">
            <a:avLst/>
          </a:prstGeom>
        </p:spPr>
      </p:pic>
    </p:spTree>
  </p:cSld>
</p:sldLayout>
</file>

<file path=ppt/slideLayouts/slideLayout2.xml><?xml version="1.0" encoding="utf-8"?>
<p:sldLayout xmlns:p="http://schemas.openxmlformats.org/presentationml/2006/main" preserve="1" userDrawn="1">
  <p:cSld name="BodySlide-Blk-TopLogo">
    <p:bg>
      <p:bgPr>
        <a:solidFill xmlns:a="http://schemas.openxmlformats.org/drawingml/2006/main">
          <a:schemeClr val="tx1"/>
        </a:solidFill>
      </p:bgPr>
    </p:bg>
    <p:spTree>
      <p:nvGrpSpPr>
        <p:cNvPr id="1" name=""/>
        <p:cNvGrpSpPr/>
        <p:nvPr/>
      </p:nvGrpSpPr>
      <p:grpSpPr>
        <a:xfrm xmlns:a="http://schemas.openxmlformats.org/drawingml/2006/main"/>
      </p:grpSpPr>
      <p:sp>
        <p:nvSpPr>
          <p:cNvPr id="8" name="Straight Connector 7">
            <a:extLst xmlns:a="http://schemas.openxmlformats.org/drawingml/2006/main">
              <a:ext uri="{FF2B5EF4-FFF2-40B4-BE49-F238E27FC236}">
                <a16:creationId xmlns:a16="http://schemas.microsoft.com/office/drawing/2014/main" id="{0F1B301F-3CE2-4EEE-AD8D-155323FC8B7C}"/>
              </a:ext>
            </a:extLst>
          </p:cNvPr>
          <p:cNvSpPr>
            <a:spLocks xmlns:a="http://schemas.openxmlformats.org/drawingml/2006/main" noGrp="1"/>
          </p:cNvSpPr>
          <p:nvPr/>
        </p:nvSpPr>
        <p:spPr>
          <a:xfrm xmlns:a="http://schemas.openxmlformats.org/drawingml/2006/main" flipH="1">
            <a:off x="446468" y="383880"/>
            <a:ext cx="8651812" cy="11359"/>
          </a:xfrm>
          <a:prstGeom xmlns:a="http://schemas.openxmlformats.org/drawingml/2006/main" prst="line">
            <a:avLst/>
          </a:prstGeom>
          <a:ln xmlns:a="http://schemas.openxmlformats.org/drawingml/2006/main" w="28575">
            <a:solidFill>
              <a:schemeClr val="accent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 name="Straight Connector 3">
            <a:extLst xmlns:a="http://schemas.openxmlformats.org/drawingml/2006/main">
              <a:ext uri="{FF2B5EF4-FFF2-40B4-BE49-F238E27FC236}">
                <a16:creationId xmlns:a16="http://schemas.microsoft.com/office/drawing/2014/main" id="{5AF8477A-7F1D-45FE-A65C-B9EC94222C1C}"/>
              </a:ext>
            </a:extLst>
          </p:cNvPr>
          <p:cNvSpPr>
            <a:spLocks xmlns:a="http://schemas.openxmlformats.org/drawingml/2006/main" noGrp="1"/>
          </p:cNvSpPr>
          <p:nvPr/>
        </p:nvSpPr>
        <p:spPr>
          <a:xfrm xmlns:a="http://schemas.openxmlformats.org/drawingml/2006/main" flipH="1">
            <a:off x="446468" y="6483231"/>
            <a:ext cx="10738263" cy="0"/>
          </a:xfrm>
          <a:prstGeom xmlns:a="http://schemas.openxmlformats.org/drawingml/2006/main" prst="line">
            <a:avLst/>
          </a:prstGeom>
          <a:ln xmlns:a="http://schemas.openxmlformats.org/drawingml/2006/main" w="28575">
            <a:solidFill>
              <a:schemeClr val="accent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pic>
        <p:nvPicPr>
          <p:cNvPr id="12" name="Picture 12"/>
          <p:cNvPicPr>
            <a:picLocks xmlns:a="http://schemas.openxmlformats.org/drawingml/2006/main" noChangeAspect="1"/>
          </p:cNvPicPr>
          <p:nvPr/>
        </p:nvPicPr>
        <p:blipFill>
          <a:blip xmlns:r="http://schemas.openxmlformats.org/officeDocument/2006/relationships" xmlns:a="http://schemas.openxmlformats.org/drawingml/2006/main" r:embed="R17971e24e0404c79"/>
          <a:stretch xmlns:a="http://schemas.openxmlformats.org/drawingml/2006/main">
            <a:fillRect l="0" t="0" r="0" b="0"/>
          </a:stretch>
        </p:blipFill>
        <p:spPr>
          <a:xfrm xmlns:a="http://schemas.openxmlformats.org/drawingml/2006/main">
            <a:off x="9615699" y="347215"/>
            <a:ext cx="2129834" cy="383319"/>
          </a:xfrm>
          <a:prstGeom xmlns:a="http://schemas.openxmlformats.org/drawingml/2006/main" prst="rect">
            <a:avLst/>
          </a:prstGeom>
        </p:spPr>
      </p:pic>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ab45b7ea68142d3" /><Relationship Type="http://schemas.openxmlformats.org/officeDocument/2006/relationships/slideLayout" Target="/ppt/slideLayouts/slideLayout1.xml" Id="Rc34b241022c0450e" /><Relationship Type="http://schemas.openxmlformats.org/officeDocument/2006/relationships/slideLayout" Target="/ppt/slideLayouts/slideLayout2.xml" Id="R1075ed788cc546cd"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34b241022c0450e"/>
    <p:sldLayoutId xmlns:r="http://schemas.openxmlformats.org/officeDocument/2006/relationships" id="2147483650" r:id="R1075ed788cc546cd"/>
  </p:sldLayoutIdLst>
  <p:hf hdr="0" ftr="0" dt="0"/>
  <p:txStyles>
    <p:titleStyle>
      <a:lvl1pPr xmlns:a="http://schemas.openxmlformats.org/drawingml/2006/main" algn="l" defTabSz="914400">
        <a:lnSpc>
          <a:spcPct val="90000"/>
        </a:lnSpc>
        <a:spcBef>
          <a:spcPct val="0"/>
        </a:spcBef>
        <a:buNone/>
        <a:defRPr sz="3200" b="1" i="0" kern="1200" cap="none" baseline="0">
          <a:solidFill>
            <a:schemeClr val="tx1"/>
          </a:solidFill>
          <a:latin typeface="Acumin Pro"/>
          <a:ea typeface="Acumin Pro"/>
          <a:cs typeface="Acumin Pro"/>
        </a:defRPr>
      </a:lvl1pPr>
    </p:titleStyle>
    <p:bodyStyle>
      <a:lvl1pPr xmlns:a="http://schemas.openxmlformats.org/drawingml/2006/main" marL="228600" indent="-228600" algn="l" defTabSz="914400">
        <a:lnSpc>
          <a:spcPct val="90000"/>
        </a:lnSpc>
        <a:spcBef>
          <a:spcPts val="1000"/>
        </a:spcBef>
        <a:buFont typeface="Wingdings"/>
        <a:buChar char="§"/>
        <a:defRPr sz="2000" b="0" i="0" kern="1200" baseline="0">
          <a:solidFill>
            <a:schemeClr val="tx1"/>
          </a:solidFill>
          <a:latin typeface="Acumin Pro"/>
          <a:ea typeface="Acumin Pro"/>
          <a:cs typeface="Acumin Pro"/>
        </a:defRPr>
      </a:lvl1pPr>
      <a:lvl2pPr xmlns:a="http://schemas.openxmlformats.org/drawingml/2006/main" marL="685800" indent="-228600" algn="l" defTabSz="914400">
        <a:lnSpc>
          <a:spcPct val="90000"/>
        </a:lnSpc>
        <a:spcBef>
          <a:spcPts val="500"/>
        </a:spcBef>
        <a:buFont typeface="Wingdings"/>
        <a:buChar char="§"/>
        <a:defRPr sz="1800" b="0" i="0" kern="1200" baseline="0">
          <a:solidFill>
            <a:schemeClr val="tx1"/>
          </a:solidFill>
          <a:latin typeface="Acumin Pro"/>
          <a:ea typeface="Acumin Pro"/>
          <a:cs typeface="Acumin Pro"/>
        </a:defRPr>
      </a:lvl2pPr>
      <a:lvl3pPr xmlns:a="http://schemas.openxmlformats.org/drawingml/2006/main" marL="1143000" indent="-228600" algn="l" defTabSz="914400">
        <a:lnSpc>
          <a:spcPct val="90000"/>
        </a:lnSpc>
        <a:spcBef>
          <a:spcPts val="500"/>
        </a:spcBef>
        <a:buFont typeface="Wingdings"/>
        <a:buChar char="§"/>
        <a:defRPr sz="1600" b="0" i="0" kern="1200" baseline="0">
          <a:solidFill>
            <a:schemeClr val="tx1"/>
          </a:solidFill>
          <a:latin typeface="Acumin Pro"/>
          <a:ea typeface="Acumin Pro"/>
          <a:cs typeface="Acumin Pro"/>
        </a:defRPr>
      </a:lvl3pPr>
      <a:lvl4pPr xmlns:a="http://schemas.openxmlformats.org/drawingml/2006/main" marL="1600200" indent="-228600" algn="l" defTabSz="914400">
        <a:lnSpc>
          <a:spcPct val="90000"/>
        </a:lnSpc>
        <a:spcBef>
          <a:spcPts val="500"/>
        </a:spcBef>
        <a:buFont typeface="Wingdings"/>
        <a:buChar char="§"/>
        <a:defRPr sz="1500" b="0" i="0" kern="1200" baseline="0">
          <a:solidFill>
            <a:schemeClr val="tx1"/>
          </a:solidFill>
          <a:latin typeface="Acumin Pro"/>
          <a:ea typeface="Acumin Pro"/>
          <a:cs typeface="Acumin Pro"/>
        </a:defRPr>
      </a:lvl4pPr>
      <a:lvl5pPr xmlns:a="http://schemas.openxmlformats.org/drawingml/2006/main" marL="2057400" indent="-228600" algn="l" defTabSz="914400">
        <a:lnSpc>
          <a:spcPct val="90000"/>
        </a:lnSpc>
        <a:spcBef>
          <a:spcPts val="500"/>
        </a:spcBef>
        <a:buFont typeface="Wingdings"/>
        <a:buChar char="§"/>
        <a:defRPr sz="1400" b="0" i="0" kern="1200" baseline="0">
          <a:solidFill>
            <a:schemeClr val="tx1"/>
          </a:solidFill>
          <a:latin typeface="Acumin Pro"/>
          <a:ea typeface="Acumin Pro"/>
          <a:cs typeface="Acumin Pro"/>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Purdue Unniversity Theme">
  <a:themeElements>
    <a:clrScheme name="Custom 1">
      <a:dk1>
        <a:srgbClr val="000000"/>
      </a:dk1>
      <a:lt1>
        <a:srgbClr val="FEFFFF"/>
      </a:lt1>
      <a:dk2>
        <a:srgbClr val="55585F"/>
      </a:dk2>
      <a:lt2>
        <a:srgbClr val="CECACB"/>
      </a:lt2>
      <a:accent1>
        <a:srgbClr val="CFB891"/>
      </a:accent1>
      <a:accent2>
        <a:srgbClr val="555960"/>
      </a:accent2>
      <a:accent3>
        <a:srgbClr val="8D6F3D"/>
      </a:accent3>
      <a:accent4>
        <a:srgbClr val="FFFFFF"/>
      </a:accent4>
      <a:accent5>
        <a:srgbClr val="DAAA00"/>
      </a:accent5>
      <a:accent6>
        <a:srgbClr val="9D9694"/>
      </a:accent6>
      <a:hlink>
        <a:srgbClr val="000000"/>
      </a:hlink>
      <a:folHlink>
        <a:srgbClr val="FEFFFF"/>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ustom 1">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3dccddc317af4c77" /><Relationship Type="http://schemas.openxmlformats.org/officeDocument/2006/relationships/notesSlide" Target="/ppt/notesSlides/notesSlide1.xml" Id="Rc51c90ab877c468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d78d5f5104845bc" /><Relationship Type="http://schemas.openxmlformats.org/officeDocument/2006/relationships/notesSlide" Target="/ppt/notesSlides/notesSlide2.xml" Id="R5b3788401d1f4cb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2620ade2773423d" /><Relationship Type="http://schemas.openxmlformats.org/officeDocument/2006/relationships/image" Target="/ppt/media/image3.png" Id="Rf6eb188fc3ee4a57" /><Relationship Type="http://schemas.openxmlformats.org/officeDocument/2006/relationships/notesSlide" Target="/ppt/notesSlides/notesSlide3.xml" Id="Reff853fc18ee46c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2c6c645c5924ed5" /><Relationship Type="http://schemas.openxmlformats.org/officeDocument/2006/relationships/image" Target="/ppt/media/image4.png" Id="Rad095596fdc142ed" /><Relationship Type="http://schemas.openxmlformats.org/officeDocument/2006/relationships/notesSlide" Target="/ppt/notesSlides/notesSlide4.xml" Id="Re0c06196c6d04e1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b6172462de74c42" /><Relationship Type="http://schemas.openxmlformats.org/officeDocument/2006/relationships/notesSlide" Target="/ppt/notesSlides/notesSlide5.xml" Id="R26c72052a4774a87"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bdbf4b29e4404c91" /><Relationship Type="http://schemas.openxmlformats.org/officeDocument/2006/relationships/notesSlide" Target="/ppt/notesSlides/notesSlide6.xml" Id="Rc94d0151008c420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a963f81dba741bd" /><Relationship Type="http://schemas.openxmlformats.org/officeDocument/2006/relationships/image" Target="/ppt/media/image5.png" Id="R816bea82d006439d" /><Relationship Type="http://schemas.openxmlformats.org/officeDocument/2006/relationships/image" Target="/ppt/media/image6.png" Id="Rd16be09ca4e1492d" /><Relationship Type="http://schemas.openxmlformats.org/officeDocument/2006/relationships/notesSlide" Target="/ppt/notesSlides/notesSlide7.xml" Id="Re1399c63e3294078" /></Relationships>
</file>

<file path=ppt/slides/slide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D70052AD-C438-4403-A3A5-47195CD316E1}"/>
              </a:ext>
            </a:extLst>
          </p:cNvPr>
          <p:cNvSpPr>
            <a:spLocks xmlns:a="http://schemas.openxmlformats.org/drawingml/2006/main" noGrp="1"/>
          </p:cNvSpPr>
          <p:nvPr/>
        </p:nvSpPr>
        <p:spPr>
          <a:xfrm xmlns:a="http://schemas.openxmlformats.org/drawingml/2006/main">
            <a:off x="457200" y="62865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150" b="1">
                <a:solidFill>
                  <a:srgbClr val="FFFFFF"/>
                </a:solidFill>
                <a:latin typeface="Arial"/>
                <a:ea typeface="Arial"/>
                <a:cs typeface="Arial"/>
              </a:defRPr>
            </a:pPr>
            <a:r>
              <a:rPr sz="3150" b="1">
                <a:solidFill>
                  <a:srgbClr val="FFFFFF"/>
                </a:solidFill>
                <a:latin typeface="Arial"/>
                <a:ea typeface="Arial"/>
                <a:cs typeface="Arial"/>
              </a:rPr>
              <a:t>Bias Voltage DAC</a:t>
            </a:r>
          </a:p>
        </p:txBody>
      </p:sp>
      <p:sp>
        <p:nvSpPr>
          <p:cNvPr id="2" name="Subtitle">
            <a:extLst xmlns:a="http://schemas.openxmlformats.org/drawingml/2006/main">
              <a:ext uri="{FF2B5EF4-FFF2-40B4-BE49-F238E27FC236}">
                <a16:creationId xmlns:a16="http://schemas.microsoft.com/office/drawing/2014/main" id="{0C02E601-E8EA-46A9-8175-5A95FD6BEFE4}"/>
              </a:ext>
            </a:extLst>
          </p:cNvPr>
          <p:cNvSpPr>
            <a:spLocks xmlns:a="http://schemas.openxmlformats.org/drawingml/2006/main" noGrp="1"/>
          </p:cNvSpPr>
          <p:nvPr/>
        </p:nvSpPr>
        <p:spPr>
          <a:xfrm xmlns:a="http://schemas.openxmlformats.org/drawingml/2006/main">
            <a:off x="457200" y="133350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00" b="0">
                <a:solidFill>
                  <a:srgbClr val="CFB991"/>
                </a:solidFill>
                <a:latin typeface="Arial"/>
                <a:ea typeface="Arial"/>
                <a:cs typeface="Arial"/>
              </a:defRPr>
            </a:pPr>
            <a:r>
              <a:rPr sz="1800" b="0">
                <a:solidFill>
                  <a:srgbClr val="CFB991"/>
                </a:solidFill>
                <a:latin typeface="Arial"/>
                <a:ea typeface="Arial"/>
                <a:cs typeface="Arial"/>
              </a:rPr>
              <a:t>Purdue SoCET Senior Design  /  Problem Pitch  /  Fall 2026</a:t>
            </a:r>
          </a:p>
        </p:txBody>
      </p:sp>
      <p:sp>
        <p:nvSpPr>
          <p:cNvPr id="3" name="text">
            <a:extLst xmlns:a="http://schemas.openxmlformats.org/drawingml/2006/main">
              <a:ext uri="{FF2B5EF4-FFF2-40B4-BE49-F238E27FC236}">
                <a16:creationId xmlns:a16="http://schemas.microsoft.com/office/drawing/2014/main" id="{CB9DE036-5446-41EE-94A7-AE7525E59C98}"/>
              </a:ext>
            </a:extLst>
          </p:cNvPr>
          <p:cNvSpPr>
            <a:spLocks xmlns:a="http://schemas.openxmlformats.org/drawingml/2006/main" noGrp="1"/>
          </p:cNvSpPr>
          <p:nvPr/>
        </p:nvSpPr>
        <p:spPr>
          <a:xfrm xmlns:a="http://schemas.openxmlformats.org/drawingml/2006/main">
            <a:off x="11372850" y="645795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050" b="0">
                <a:solidFill>
                  <a:srgbClr val="CFB991"/>
                </a:solidFill>
                <a:latin typeface="Arial"/>
                <a:ea typeface="Arial"/>
                <a:cs typeface="Arial"/>
              </a:defRPr>
            </a:pPr>
            <a:r>
              <a:rPr sz="1050" b="0">
                <a:solidFill>
                  <a:srgbClr val="CFB991"/>
                </a:solidFill>
                <a:latin typeface="Arial"/>
                <a:ea typeface="Arial"/>
                <a:cs typeface="Arial"/>
              </a:rPr>
              <a:t>1</a:t>
            </a:r>
          </a:p>
        </p:txBody>
      </p:sp>
      <p:sp>
        <p:nvSpPr>
          <p:cNvPr id="4" name="text">
            <a:extLst xmlns:a="http://schemas.openxmlformats.org/drawingml/2006/main">
              <a:ext uri="{FF2B5EF4-FFF2-40B4-BE49-F238E27FC236}">
                <a16:creationId xmlns:a16="http://schemas.microsoft.com/office/drawing/2014/main" id="{97871720-4743-49CD-80F2-A1444936A45D}"/>
              </a:ext>
            </a:extLst>
          </p:cNvPr>
          <p:cNvSpPr>
            <a:spLocks xmlns:a="http://schemas.openxmlformats.org/drawingml/2006/main" noGrp="1"/>
          </p:cNvSpPr>
          <p:nvPr/>
        </p:nvSpPr>
        <p:spPr>
          <a:xfrm xmlns:a="http://schemas.openxmlformats.org/drawingml/2006/main">
            <a:off x="457200" y="2095500"/>
            <a:ext cx="106680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4200" b="1">
                <a:solidFill>
                  <a:srgbClr val="FFFFFF"/>
                </a:solidFill>
                <a:latin typeface="Arial"/>
                <a:ea typeface="Arial"/>
                <a:cs typeface="Arial"/>
              </a:defRPr>
            </a:pPr>
            <a:r>
              <a:rPr sz="4200" b="1">
                <a:solidFill>
                  <a:srgbClr val="FFFFFF"/>
                </a:solidFill>
                <a:latin typeface="Arial"/>
                <a:ea typeface="Arial"/>
                <a:cs typeface="Arial"/>
              </a:rPr>
              <a:t>Precision DC bias for</a:t>
            </a:r>
          </a:p>
          <a:p xmlns:a="http://schemas.openxmlformats.org/drawingml/2006/main">
            <a:pPr>
              <a:buNone/>
              <a:defRPr sz="4200" b="1">
                <a:solidFill>
                  <a:srgbClr val="FFFFFF"/>
                </a:solidFill>
                <a:latin typeface="Arial"/>
                <a:ea typeface="Arial"/>
                <a:cs typeface="Arial"/>
              </a:defRPr>
            </a:pPr>
            <a:r>
              <a:rPr sz="4200" b="1">
                <a:solidFill>
                  <a:srgbClr val="FFFFFF"/>
                </a:solidFill>
                <a:latin typeface="Arial"/>
                <a:ea typeface="Arial"/>
                <a:cs typeface="Arial"/>
              </a:rPr>
              <a:t>solid-state qubits</a:t>
            </a:r>
          </a:p>
        </p:txBody>
      </p:sp>
      <p:sp>
        <p:nvSpPr>
          <p:cNvPr id="5" name="text">
            <a:extLst xmlns:a="http://schemas.openxmlformats.org/drawingml/2006/main">
              <a:ext uri="{FF2B5EF4-FFF2-40B4-BE49-F238E27FC236}">
                <a16:creationId xmlns:a16="http://schemas.microsoft.com/office/drawing/2014/main" id="{DC3CE289-7F2F-49A2-B775-537C83BC34E1}"/>
              </a:ext>
            </a:extLst>
          </p:cNvPr>
          <p:cNvSpPr>
            <a:spLocks xmlns:a="http://schemas.openxmlformats.org/drawingml/2006/main" noGrp="1"/>
          </p:cNvSpPr>
          <p:nvPr/>
        </p:nvSpPr>
        <p:spPr>
          <a:xfrm xmlns:a="http://schemas.openxmlformats.org/drawingml/2006/main">
            <a:off x="476250" y="3876675"/>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400" b="1">
                <a:solidFill>
                  <a:srgbClr val="CFB991"/>
                </a:solidFill>
                <a:latin typeface="Arial"/>
                <a:ea typeface="Arial"/>
                <a:cs typeface="Arial"/>
              </a:defRPr>
            </a:pPr>
            <a:r>
              <a:rPr sz="2400" b="1">
                <a:solidFill>
                  <a:srgbClr val="CFB991"/>
                </a:solidFill>
                <a:latin typeface="Arial"/>
                <a:ea typeface="Arial"/>
                <a:cs typeface="Arial"/>
              </a:rPr>
              <a:t>More bias channels</a:t>
            </a:r>
          </a:p>
        </p:txBody>
      </p:sp>
      <p:sp>
        <p:nvSpPr>
          <p:cNvPr id="6" name="text">
            <a:extLst xmlns:a="http://schemas.openxmlformats.org/drawingml/2006/main">
              <a:ext uri="{FF2B5EF4-FFF2-40B4-BE49-F238E27FC236}">
                <a16:creationId xmlns:a16="http://schemas.microsoft.com/office/drawing/2014/main" id="{C25A943B-07B6-4ABB-9284-2B47474A47B7}"/>
              </a:ext>
            </a:extLst>
          </p:cNvPr>
          <p:cNvSpPr>
            <a:spLocks xmlns:a="http://schemas.openxmlformats.org/drawingml/2006/main" noGrp="1"/>
          </p:cNvSpPr>
          <p:nvPr/>
        </p:nvSpPr>
        <p:spPr>
          <a:xfrm xmlns:a="http://schemas.openxmlformats.org/drawingml/2006/main">
            <a:off x="476250" y="4400550"/>
            <a:ext cx="4905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100" b="0">
                <a:solidFill>
                  <a:srgbClr val="FFFFFF"/>
                </a:solidFill>
                <a:latin typeface="Arial"/>
                <a:ea typeface="Arial"/>
                <a:cs typeface="Arial"/>
              </a:defRPr>
            </a:pPr>
            <a:r>
              <a:rPr sz="2100" b="0">
                <a:solidFill>
                  <a:srgbClr val="FFFFFF"/>
                </a:solidFill>
                <a:latin typeface="Arial"/>
                <a:ea typeface="Arial"/>
                <a:cs typeface="Arial"/>
              </a:rPr>
              <a:t>Room-temperature wiring becomes</a:t>
            </a:r>
          </a:p>
          <a:p xmlns:a="http://schemas.openxmlformats.org/drawingml/2006/main">
            <a:pPr>
              <a:buNone/>
              <a:defRPr sz="2100" b="0">
                <a:solidFill>
                  <a:srgbClr val="FFFFFF"/>
                </a:solidFill>
                <a:latin typeface="Arial"/>
                <a:ea typeface="Arial"/>
                <a:cs typeface="Arial"/>
              </a:defRPr>
            </a:pPr>
            <a:r>
              <a:rPr sz="2100" b="0">
                <a:solidFill>
                  <a:srgbClr val="FFFFFF"/>
                </a:solidFill>
                <a:latin typeface="Arial"/>
                <a:ea typeface="Arial"/>
                <a:cs typeface="Arial"/>
              </a:rPr>
              <a:t>a scaling bottleneck.</a:t>
            </a:r>
          </a:p>
        </p:txBody>
      </p:sp>
      <p:sp>
        <p:nvSpPr>
          <p:cNvPr id="7" name="text">
            <a:extLst xmlns:a="http://schemas.openxmlformats.org/drawingml/2006/main">
              <a:ext uri="{FF2B5EF4-FFF2-40B4-BE49-F238E27FC236}">
                <a16:creationId xmlns:a16="http://schemas.microsoft.com/office/drawing/2014/main" id="{37129310-0FD9-4721-A0D3-914FC5081293}"/>
              </a:ext>
            </a:extLst>
          </p:cNvPr>
          <p:cNvSpPr>
            <a:spLocks xmlns:a="http://schemas.openxmlformats.org/drawingml/2006/main" noGrp="1"/>
          </p:cNvSpPr>
          <p:nvPr/>
        </p:nvSpPr>
        <p:spPr>
          <a:xfrm xmlns:a="http://schemas.openxmlformats.org/drawingml/2006/main">
            <a:off x="6457950" y="3876675"/>
            <a:ext cx="514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400" b="1">
                <a:solidFill>
                  <a:srgbClr val="CFB991"/>
                </a:solidFill>
                <a:latin typeface="Arial"/>
                <a:ea typeface="Arial"/>
                <a:cs typeface="Arial"/>
              </a:defRPr>
            </a:pPr>
            <a:r>
              <a:rPr sz="2400" b="1">
                <a:solidFill>
                  <a:srgbClr val="CFB991"/>
                </a:solidFill>
                <a:latin typeface="Arial"/>
                <a:ea typeface="Arial"/>
                <a:cs typeface="Arial"/>
              </a:rPr>
              <a:t>Limited cooling power</a:t>
            </a:r>
          </a:p>
        </p:txBody>
      </p:sp>
      <p:sp>
        <p:nvSpPr>
          <p:cNvPr id="8" name="text">
            <a:extLst xmlns:a="http://schemas.openxmlformats.org/drawingml/2006/main">
              <a:ext uri="{FF2B5EF4-FFF2-40B4-BE49-F238E27FC236}">
                <a16:creationId xmlns:a16="http://schemas.microsoft.com/office/drawing/2014/main" id="{53571129-4F83-4849-95D5-13FFD10CB661}"/>
              </a:ext>
            </a:extLst>
          </p:cNvPr>
          <p:cNvSpPr>
            <a:spLocks xmlns:a="http://schemas.openxmlformats.org/drawingml/2006/main" noGrp="1"/>
          </p:cNvSpPr>
          <p:nvPr/>
        </p:nvSpPr>
        <p:spPr>
          <a:xfrm xmlns:a="http://schemas.openxmlformats.org/drawingml/2006/main">
            <a:off x="6457950" y="4400550"/>
            <a:ext cx="5048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100" b="0">
                <a:solidFill>
                  <a:srgbClr val="FFFFFF"/>
                </a:solidFill>
                <a:latin typeface="Arial"/>
                <a:ea typeface="Arial"/>
                <a:cs typeface="Arial"/>
              </a:defRPr>
            </a:pPr>
            <a:r>
              <a:rPr sz="2100" b="0">
                <a:solidFill>
                  <a:srgbClr val="FFFFFF"/>
                </a:solidFill>
                <a:latin typeface="Arial"/>
                <a:ea typeface="Arial"/>
                <a:cs typeface="Arial"/>
              </a:rPr>
              <a:t>Electronics near the qubits must</a:t>
            </a:r>
          </a:p>
          <a:p xmlns:a="http://schemas.openxmlformats.org/drawingml/2006/main">
            <a:pPr>
              <a:buNone/>
              <a:defRPr sz="2100" b="0">
                <a:solidFill>
                  <a:srgbClr val="FFFFFF"/>
                </a:solidFill>
                <a:latin typeface="Arial"/>
                <a:ea typeface="Arial"/>
                <a:cs typeface="Arial"/>
              </a:defRPr>
            </a:pPr>
            <a:r>
              <a:rPr sz="2100" b="0">
                <a:solidFill>
                  <a:srgbClr val="FFFFFF"/>
                </a:solidFill>
                <a:latin typeface="Arial"/>
                <a:ea typeface="Arial"/>
                <a:cs typeface="Arial"/>
              </a:rPr>
              <a:t>spend very little power.</a:t>
            </a:r>
          </a:p>
        </p:txBody>
      </p:sp>
      <p:sp>
        <p:nvSpPr>
          <p:cNvPr id="9" name="text">
            <a:extLst xmlns:a="http://schemas.openxmlformats.org/drawingml/2006/main">
              <a:ext uri="{FF2B5EF4-FFF2-40B4-BE49-F238E27FC236}">
                <a16:creationId xmlns:a16="http://schemas.microsoft.com/office/drawing/2014/main" id="{05B5F324-E403-4C20-B649-2C08AD15F453}"/>
              </a:ext>
            </a:extLst>
          </p:cNvPr>
          <p:cNvSpPr>
            <a:spLocks xmlns:a="http://schemas.openxmlformats.org/drawingml/2006/main" noGrp="1"/>
          </p:cNvSpPr>
          <p:nvPr/>
        </p:nvSpPr>
        <p:spPr>
          <a:xfrm xmlns:a="http://schemas.openxmlformats.org/drawingml/2006/main">
            <a:off x="476250" y="5676900"/>
            <a:ext cx="11191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100" b="1">
                <a:solidFill>
                  <a:srgbClr val="CFB991"/>
                </a:solidFill>
                <a:latin typeface="Arial"/>
                <a:ea typeface="Arial"/>
                <a:cs typeface="Arial"/>
              </a:defRPr>
            </a:pPr>
            <a:r>
              <a:rPr sz="2100" b="1">
                <a:solidFill>
                  <a:srgbClr val="CFB991"/>
                </a:solidFill>
                <a:latin typeface="Arial"/>
                <a:ea typeface="Arial"/>
                <a:cs typeface="Arial"/>
              </a:rPr>
              <a:t>Goal: a shared, low-power DAC with precise, stable held voltages</a:t>
            </a:r>
          </a:p>
        </p:txBody>
      </p:sp>
    </p:spTree>
    <p:extLst>
      <p:ext uri="{BB962C8B-B14F-4D97-AF65-F5344CB8AC3E}">
        <p14:creationId xmlns:p14="http://schemas.microsoft.com/office/powerpoint/2010/main" val="36473163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itle">
            <a:extLst xmlns:a="http://schemas.openxmlformats.org/drawingml/2006/main">
              <a:ext uri="{FF2B5EF4-FFF2-40B4-BE49-F238E27FC236}">
                <a16:creationId xmlns:a16="http://schemas.microsoft.com/office/drawing/2014/main" id="{9D4CC3C7-01FA-452E-915C-52AD697AE2C6}"/>
              </a:ext>
            </a:extLst>
          </p:cNvPr>
          <p:cNvSpPr>
            <a:spLocks xmlns:a="http://schemas.openxmlformats.org/drawingml/2006/main" noGrp="1"/>
          </p:cNvSpPr>
          <p:nvPr/>
        </p:nvSpPr>
        <p:spPr>
          <a:xfrm xmlns:a="http://schemas.openxmlformats.org/drawingml/2006/main">
            <a:off x="457200" y="62865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150" b="1">
                <a:solidFill>
                  <a:srgbClr val="000000"/>
                </a:solidFill>
                <a:latin typeface="Arial"/>
                <a:ea typeface="Arial"/>
                <a:cs typeface="Arial"/>
              </a:defRPr>
            </a:pPr>
            <a:r>
              <a:rPr sz="3150" b="1">
                <a:solidFill>
                  <a:srgbClr val="000000"/>
                </a:solidFill>
                <a:latin typeface="Arial"/>
                <a:ea typeface="Arial"/>
                <a:cs typeface="Arial"/>
              </a:rPr>
              <a:t>Target requirements</a:t>
            </a:r>
          </a:p>
        </p:txBody>
      </p:sp>
      <p:sp>
        <p:nvSpPr>
          <p:cNvPr id="2" name="Subtitle">
            <a:extLst xmlns:a="http://schemas.openxmlformats.org/drawingml/2006/main">
              <a:ext uri="{FF2B5EF4-FFF2-40B4-BE49-F238E27FC236}">
                <a16:creationId xmlns:a16="http://schemas.microsoft.com/office/drawing/2014/main" id="{5C98A3E1-EF82-4279-B62F-AD33507BAD73}"/>
              </a:ext>
            </a:extLst>
          </p:cNvPr>
          <p:cNvSpPr>
            <a:spLocks xmlns:a="http://schemas.openxmlformats.org/drawingml/2006/main" noGrp="1"/>
          </p:cNvSpPr>
          <p:nvPr/>
        </p:nvSpPr>
        <p:spPr>
          <a:xfrm xmlns:a="http://schemas.openxmlformats.org/drawingml/2006/main">
            <a:off x="457200" y="133350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00" b="0">
                <a:solidFill>
                  <a:srgbClr val="8E6F3E"/>
                </a:solidFill>
                <a:latin typeface="Arial"/>
                <a:ea typeface="Arial"/>
                <a:cs typeface="Arial"/>
              </a:defRPr>
            </a:pPr>
            <a:r>
              <a:rPr sz="1800" b="0">
                <a:solidFill>
                  <a:srgbClr val="8E6F3E"/>
                </a:solidFill>
                <a:latin typeface="Arial"/>
                <a:ea typeface="Arial"/>
                <a:cs typeface="Arial"/>
              </a:rPr>
              <a:t>Literature-informed design targets</a:t>
            </a:r>
          </a:p>
        </p:txBody>
      </p:sp>
      <p:sp>
        <p:nvSpPr>
          <p:cNvPr id="3" name="text">
            <a:extLst xmlns:a="http://schemas.openxmlformats.org/drawingml/2006/main">
              <a:ext uri="{FF2B5EF4-FFF2-40B4-BE49-F238E27FC236}">
                <a16:creationId xmlns:a16="http://schemas.microsoft.com/office/drawing/2014/main" id="{2DA5B1F8-E857-4711-94AB-CBBC394EE62D}"/>
              </a:ext>
            </a:extLst>
          </p:cNvPr>
          <p:cNvSpPr>
            <a:spLocks xmlns:a="http://schemas.openxmlformats.org/drawingml/2006/main" noGrp="1"/>
          </p:cNvSpPr>
          <p:nvPr/>
        </p:nvSpPr>
        <p:spPr>
          <a:xfrm xmlns:a="http://schemas.openxmlformats.org/drawingml/2006/main">
            <a:off x="11372850" y="645795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050" b="0">
                <a:solidFill>
                  <a:srgbClr val="555960"/>
                </a:solidFill>
                <a:latin typeface="Arial"/>
                <a:ea typeface="Arial"/>
                <a:cs typeface="Arial"/>
              </a:defRPr>
            </a:pPr>
            <a:r>
              <a:rPr sz="1050" b="0">
                <a:solidFill>
                  <a:srgbClr val="555960"/>
                </a:solidFill>
                <a:latin typeface="Arial"/>
                <a:ea typeface="Arial"/>
                <a:cs typeface="Arial"/>
              </a:rPr>
              <a:t>2</a:t>
            </a:r>
          </a:p>
        </p:txBody>
      </p:sp>
      <p:sp>
        <p:nvSpPr>
          <p:cNvPr id="4" name="text">
            <a:extLst xmlns:a="http://schemas.openxmlformats.org/drawingml/2006/main">
              <a:ext uri="{FF2B5EF4-FFF2-40B4-BE49-F238E27FC236}">
                <a16:creationId xmlns:a16="http://schemas.microsoft.com/office/drawing/2014/main" id="{BB3EDD1D-6DBA-43A6-BBE9-409E4FC86065}"/>
              </a:ext>
            </a:extLst>
          </p:cNvPr>
          <p:cNvSpPr>
            <a:spLocks xmlns:a="http://schemas.openxmlformats.org/drawingml/2006/main" noGrp="1"/>
          </p:cNvSpPr>
          <p:nvPr/>
        </p:nvSpPr>
        <p:spPr>
          <a:xfrm xmlns:a="http://schemas.openxmlformats.org/drawingml/2006/main">
            <a:off x="476250" y="2076450"/>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750" b="1">
                <a:solidFill>
                  <a:srgbClr val="8E6F3E"/>
                </a:solidFill>
                <a:latin typeface="Arial"/>
                <a:ea typeface="Arial"/>
                <a:cs typeface="Arial"/>
              </a:defRPr>
            </a:pPr>
            <a:r>
              <a:rPr sz="3750" b="1">
                <a:solidFill>
                  <a:srgbClr val="8E6F3E"/>
                </a:solidFill>
                <a:latin typeface="Arial"/>
                <a:ea typeface="Arial"/>
                <a:cs typeface="Arial"/>
              </a:rPr>
              <a:t>0–1 V</a:t>
            </a:r>
          </a:p>
        </p:txBody>
      </p:sp>
      <p:sp>
        <p:nvSpPr>
          <p:cNvPr id="5" name="text">
            <a:extLst xmlns:a="http://schemas.openxmlformats.org/drawingml/2006/main">
              <a:ext uri="{FF2B5EF4-FFF2-40B4-BE49-F238E27FC236}">
                <a16:creationId xmlns:a16="http://schemas.microsoft.com/office/drawing/2014/main" id="{2095EA41-5D4E-40C9-BA82-3B395696E8AC}"/>
              </a:ext>
            </a:extLst>
          </p:cNvPr>
          <p:cNvSpPr>
            <a:spLocks xmlns:a="http://schemas.openxmlformats.org/drawingml/2006/main" noGrp="1"/>
          </p:cNvSpPr>
          <p:nvPr/>
        </p:nvSpPr>
        <p:spPr>
          <a:xfrm xmlns:a="http://schemas.openxmlformats.org/drawingml/2006/main">
            <a:off x="4238625" y="2095500"/>
            <a:ext cx="695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100" b="1">
                <a:solidFill>
                  <a:srgbClr val="000000"/>
                </a:solidFill>
                <a:latin typeface="Arial"/>
                <a:ea typeface="Arial"/>
                <a:cs typeface="Arial"/>
              </a:defRPr>
            </a:pPr>
            <a:r>
              <a:rPr sz="2100" b="1">
                <a:solidFill>
                  <a:srgbClr val="000000"/>
                </a:solidFill>
                <a:latin typeface="Arial"/>
                <a:ea typeface="Arial"/>
                <a:cs typeface="Arial"/>
              </a:rPr>
              <a:t>Output range</a:t>
            </a:r>
          </a:p>
        </p:txBody>
      </p:sp>
      <p:sp>
        <p:nvSpPr>
          <p:cNvPr id="6" name="text">
            <a:extLst xmlns:a="http://schemas.openxmlformats.org/drawingml/2006/main">
              <a:ext uri="{FF2B5EF4-FFF2-40B4-BE49-F238E27FC236}">
                <a16:creationId xmlns:a16="http://schemas.microsoft.com/office/drawing/2014/main" id="{49A94130-55EB-49D4-AF60-D316E1F6B70C}"/>
              </a:ext>
            </a:extLst>
          </p:cNvPr>
          <p:cNvSpPr>
            <a:spLocks xmlns:a="http://schemas.openxmlformats.org/drawingml/2006/main" noGrp="1"/>
          </p:cNvSpPr>
          <p:nvPr/>
        </p:nvSpPr>
        <p:spPr>
          <a:xfrm xmlns:a="http://schemas.openxmlformats.org/drawingml/2006/main">
            <a:off x="4238625" y="2562225"/>
            <a:ext cx="704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00" b="0">
                <a:solidFill>
                  <a:srgbClr val="555960"/>
                </a:solidFill>
                <a:latin typeface="Arial"/>
                <a:ea typeface="Arial"/>
                <a:cs typeface="Arial"/>
              </a:defRPr>
            </a:pPr>
            <a:r>
              <a:rPr sz="1800" b="0">
                <a:solidFill>
                  <a:srgbClr val="555960"/>
                </a:solidFill>
                <a:latin typeface="Arial"/>
                <a:ea typeface="Arial"/>
                <a:cs typeface="Arial"/>
              </a:rPr>
              <a:t>Independent DC bias for quantum-dot gates</a:t>
            </a:r>
          </a:p>
        </p:txBody>
      </p:sp>
      <p:sp>
        <p:nvSpPr>
          <p:cNvPr id="7" name="text">
            <a:extLst xmlns:a="http://schemas.openxmlformats.org/drawingml/2006/main">
              <a:ext uri="{FF2B5EF4-FFF2-40B4-BE49-F238E27FC236}">
                <a16:creationId xmlns:a16="http://schemas.microsoft.com/office/drawing/2014/main" id="{8D0BC972-24A3-40D9-A496-383D86867772}"/>
              </a:ext>
            </a:extLst>
          </p:cNvPr>
          <p:cNvSpPr>
            <a:spLocks xmlns:a="http://schemas.openxmlformats.org/drawingml/2006/main" noGrp="1"/>
          </p:cNvSpPr>
          <p:nvPr/>
        </p:nvSpPr>
        <p:spPr>
          <a:xfrm xmlns:a="http://schemas.openxmlformats.org/drawingml/2006/main">
            <a:off x="476250" y="326707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750" b="1">
                <a:solidFill>
                  <a:srgbClr val="8E6F3E"/>
                </a:solidFill>
                <a:latin typeface="Arial"/>
                <a:ea typeface="Arial"/>
                <a:cs typeface="Arial"/>
              </a:defRPr>
            </a:pPr>
            <a:r>
              <a:rPr sz="3750" b="1">
                <a:solidFill>
                  <a:srgbClr val="8E6F3E"/>
                </a:solidFill>
                <a:latin typeface="Arial"/>
                <a:ea typeface="Arial"/>
                <a:cs typeface="Arial"/>
              </a:rPr>
              <a:t>13-bit goal</a:t>
            </a:r>
          </a:p>
        </p:txBody>
      </p:sp>
      <p:sp>
        <p:nvSpPr>
          <p:cNvPr id="8" name="text">
            <a:extLst xmlns:a="http://schemas.openxmlformats.org/drawingml/2006/main">
              <a:ext uri="{FF2B5EF4-FFF2-40B4-BE49-F238E27FC236}">
                <a16:creationId xmlns:a16="http://schemas.microsoft.com/office/drawing/2014/main" id="{4CB0D8D3-1F66-41C7-AB82-963AD328A980}"/>
              </a:ext>
            </a:extLst>
          </p:cNvPr>
          <p:cNvSpPr>
            <a:spLocks xmlns:a="http://schemas.openxmlformats.org/drawingml/2006/main" noGrp="1"/>
          </p:cNvSpPr>
          <p:nvPr/>
        </p:nvSpPr>
        <p:spPr>
          <a:xfrm xmlns:a="http://schemas.openxmlformats.org/drawingml/2006/main">
            <a:off x="4238625" y="3286125"/>
            <a:ext cx="695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100" b="1">
                <a:solidFill>
                  <a:srgbClr val="000000"/>
                </a:solidFill>
                <a:latin typeface="Arial"/>
                <a:ea typeface="Arial"/>
                <a:cs typeface="Arial"/>
              </a:defRPr>
            </a:pPr>
            <a:r>
              <a:rPr sz="2100" b="1">
                <a:solidFill>
                  <a:srgbClr val="000000"/>
                </a:solidFill>
                <a:latin typeface="Arial"/>
                <a:ea typeface="Arial"/>
                <a:cs typeface="Arial"/>
              </a:rPr>
              <a:t>≈125 µV nominal step</a:t>
            </a:r>
          </a:p>
        </p:txBody>
      </p:sp>
      <p:sp>
        <p:nvSpPr>
          <p:cNvPr id="9" name="text">
            <a:extLst xmlns:a="http://schemas.openxmlformats.org/drawingml/2006/main">
              <a:ext uri="{FF2B5EF4-FFF2-40B4-BE49-F238E27FC236}">
                <a16:creationId xmlns:a16="http://schemas.microsoft.com/office/drawing/2014/main" id="{71DAA31E-E82E-4386-AFB3-8272C13112C2}"/>
              </a:ext>
            </a:extLst>
          </p:cNvPr>
          <p:cNvSpPr>
            <a:spLocks xmlns:a="http://schemas.openxmlformats.org/drawingml/2006/main" noGrp="1"/>
          </p:cNvSpPr>
          <p:nvPr/>
        </p:nvSpPr>
        <p:spPr>
          <a:xfrm xmlns:a="http://schemas.openxmlformats.org/drawingml/2006/main">
            <a:off x="4238625" y="3752850"/>
            <a:ext cx="704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00" b="0">
                <a:solidFill>
                  <a:srgbClr val="555960"/>
                </a:solidFill>
                <a:latin typeface="Arial"/>
                <a:ea typeface="Arial"/>
                <a:cs typeface="Arial"/>
              </a:defRPr>
            </a:pPr>
            <a:r>
              <a:rPr sz="1800" b="0">
                <a:solidFill>
                  <a:srgbClr val="555960"/>
                </a:solidFill>
                <a:latin typeface="Arial"/>
                <a:ea typeface="Arial"/>
                <a:cs typeface="Arial"/>
              </a:rPr>
              <a:t>12-bit application requirement, plus margin</a:t>
            </a:r>
          </a:p>
        </p:txBody>
      </p:sp>
      <p:sp>
        <p:nvSpPr>
          <p:cNvPr id="10" name="text">
            <a:extLst xmlns:a="http://schemas.openxmlformats.org/drawingml/2006/main">
              <a:ext uri="{FF2B5EF4-FFF2-40B4-BE49-F238E27FC236}">
                <a16:creationId xmlns:a16="http://schemas.microsoft.com/office/drawing/2014/main" id="{390E58EF-8EEC-46B4-BF4E-19EBB86CC5FF}"/>
              </a:ext>
            </a:extLst>
          </p:cNvPr>
          <p:cNvSpPr>
            <a:spLocks xmlns:a="http://schemas.openxmlformats.org/drawingml/2006/main" noGrp="1"/>
          </p:cNvSpPr>
          <p:nvPr/>
        </p:nvSpPr>
        <p:spPr>
          <a:xfrm xmlns:a="http://schemas.openxmlformats.org/drawingml/2006/main">
            <a:off x="476250" y="4457700"/>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750" b="1">
                <a:solidFill>
                  <a:srgbClr val="8E6F3E"/>
                </a:solidFill>
                <a:latin typeface="Arial"/>
                <a:ea typeface="Arial"/>
                <a:cs typeface="Arial"/>
              </a:defRPr>
            </a:pPr>
            <a:r>
              <a:rPr sz="3750" b="1">
                <a:solidFill>
                  <a:srgbClr val="8E6F3E"/>
                </a:solidFill>
                <a:latin typeface="Arial"/>
                <a:ea typeface="Arial"/>
                <a:cs typeface="Arial"/>
              </a:rPr>
              <a:t>8 channels</a:t>
            </a:r>
          </a:p>
        </p:txBody>
      </p:sp>
      <p:sp>
        <p:nvSpPr>
          <p:cNvPr id="11" name="text">
            <a:extLst xmlns:a="http://schemas.openxmlformats.org/drawingml/2006/main">
              <a:ext uri="{FF2B5EF4-FFF2-40B4-BE49-F238E27FC236}">
                <a16:creationId xmlns:a16="http://schemas.microsoft.com/office/drawing/2014/main" id="{2376D6DF-2E12-4C26-8818-8D718E394591}"/>
              </a:ext>
            </a:extLst>
          </p:cNvPr>
          <p:cNvSpPr>
            <a:spLocks xmlns:a="http://schemas.openxmlformats.org/drawingml/2006/main" noGrp="1"/>
          </p:cNvSpPr>
          <p:nvPr/>
        </p:nvSpPr>
        <p:spPr>
          <a:xfrm xmlns:a="http://schemas.openxmlformats.org/drawingml/2006/main">
            <a:off x="4238625" y="4476750"/>
            <a:ext cx="695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100" b="1">
                <a:solidFill>
                  <a:srgbClr val="000000"/>
                </a:solidFill>
                <a:latin typeface="Arial"/>
                <a:ea typeface="Arial"/>
                <a:cs typeface="Arial"/>
              </a:defRPr>
            </a:pPr>
            <a:r>
              <a:rPr sz="2100" b="1">
                <a:solidFill>
                  <a:srgbClr val="000000"/>
                </a:solidFill>
                <a:latin typeface="Arial"/>
                <a:ea typeface="Arial"/>
                <a:cs typeface="Arial"/>
              </a:rPr>
              <a:t>Shared DAC core</a:t>
            </a:r>
          </a:p>
        </p:txBody>
      </p:sp>
      <p:sp>
        <p:nvSpPr>
          <p:cNvPr id="12" name="text">
            <a:extLst xmlns:a="http://schemas.openxmlformats.org/drawingml/2006/main">
              <a:ext uri="{FF2B5EF4-FFF2-40B4-BE49-F238E27FC236}">
                <a16:creationId xmlns:a16="http://schemas.microsoft.com/office/drawing/2014/main" id="{68DBD831-FD70-49D7-AAB6-CBDCF6EBC645}"/>
              </a:ext>
            </a:extLst>
          </p:cNvPr>
          <p:cNvSpPr>
            <a:spLocks xmlns:a="http://schemas.openxmlformats.org/drawingml/2006/main" noGrp="1"/>
          </p:cNvSpPr>
          <p:nvPr/>
        </p:nvSpPr>
        <p:spPr>
          <a:xfrm xmlns:a="http://schemas.openxmlformats.org/drawingml/2006/main">
            <a:off x="4238625" y="4943475"/>
            <a:ext cx="704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00" b="0">
                <a:solidFill>
                  <a:srgbClr val="555960"/>
                </a:solidFill>
                <a:latin typeface="Arial"/>
                <a:ea typeface="Arial"/>
                <a:cs typeface="Arial"/>
              </a:defRPr>
            </a:pPr>
            <a:r>
              <a:rPr sz="1800" b="0">
                <a:solidFill>
                  <a:srgbClr val="555960"/>
                </a:solidFill>
                <a:latin typeface="Arial"/>
                <a:ea typeface="Arial"/>
                <a:cs typeface="Arial"/>
              </a:rPr>
              <a:t>Per-channel sample-and-hold and periodic refresh</a:t>
            </a:r>
          </a:p>
        </p:txBody>
      </p:sp>
      <p:sp>
        <p:nvSpPr>
          <p:cNvPr id="13" name="text">
            <a:extLst xmlns:a="http://schemas.openxmlformats.org/drawingml/2006/main">
              <a:ext uri="{FF2B5EF4-FFF2-40B4-BE49-F238E27FC236}">
                <a16:creationId xmlns:a16="http://schemas.microsoft.com/office/drawing/2014/main" id="{ACA7F741-3697-4C78-86AC-2AF09BAE2E56}"/>
              </a:ext>
            </a:extLst>
          </p:cNvPr>
          <p:cNvSpPr>
            <a:spLocks xmlns:a="http://schemas.openxmlformats.org/drawingml/2006/main" noGrp="1"/>
          </p:cNvSpPr>
          <p:nvPr/>
        </p:nvSpPr>
        <p:spPr>
          <a:xfrm xmlns:a="http://schemas.openxmlformats.org/drawingml/2006/main">
            <a:off x="476250" y="5695950"/>
            <a:ext cx="1104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00" b="1">
                <a:solidFill>
                  <a:srgbClr val="000000"/>
                </a:solidFill>
                <a:latin typeface="Arial"/>
                <a:ea typeface="Arial"/>
                <a:cs typeface="Arial"/>
              </a:defRPr>
            </a:pPr>
            <a:r>
              <a:rPr sz="1800" b="1">
                <a:solidFill>
                  <a:srgbClr val="000000"/>
                </a:solidFill>
                <a:latin typeface="Arial"/>
                <a:ea typeface="Arial"/>
                <a:cs typeface="Arial"/>
              </a:rPr>
              <a:t>Power target: µW per channel, with the budget verified in circuit simulation</a:t>
            </a:r>
          </a:p>
        </p:txBody>
      </p:sp>
      <p:sp>
        <p:nvSpPr>
          <p:cNvPr id="14" name="text">
            <a:extLst xmlns:a="http://schemas.openxmlformats.org/drawingml/2006/main">
              <a:ext uri="{FF2B5EF4-FFF2-40B4-BE49-F238E27FC236}">
                <a16:creationId xmlns:a16="http://schemas.microsoft.com/office/drawing/2014/main" id="{14612C8D-F474-4BC7-8ABB-05E6AF4E898D}"/>
              </a:ext>
            </a:extLst>
          </p:cNvPr>
          <p:cNvSpPr>
            <a:spLocks xmlns:a="http://schemas.openxmlformats.org/drawingml/2006/main" noGrp="1"/>
          </p:cNvSpPr>
          <p:nvPr/>
        </p:nvSpPr>
        <p:spPr>
          <a:xfrm xmlns:a="http://schemas.openxmlformats.org/drawingml/2006/main">
            <a:off x="476250" y="6134100"/>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75" b="0">
                <a:solidFill>
                  <a:srgbClr val="555960"/>
                </a:solidFill>
                <a:latin typeface="Arial"/>
                <a:ea typeface="Arial"/>
                <a:cs typeface="Arial"/>
              </a:defRPr>
            </a:pPr>
            <a:r>
              <a:rPr sz="1275" b="0">
                <a:solidFill>
                  <a:srgbClr val="555960"/>
                </a:solidFill>
                <a:latin typeface="Arial"/>
                <a:ea typeface="Arial"/>
                <a:cs typeface="Arial"/>
              </a:rPr>
              <a:t>Literature: Vliex et al., IEEE SSC-L, 2020 [1]. 6 K measurements, ≈2.7 µW/channel in 65 nm.</a:t>
            </a:r>
          </a:p>
        </p:txBody>
      </p:sp>
    </p:spTree>
    <p:extLst>
      <p:ext uri="{BB962C8B-B14F-4D97-AF65-F5344CB8AC3E}">
        <p14:creationId xmlns:p14="http://schemas.microsoft.com/office/powerpoint/2010/main" val="221550553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D6E524F1-7734-42EB-82B6-DBE3726A9BCE}"/>
              </a:ext>
            </a:extLst>
          </p:cNvPr>
          <p:cNvSpPr>
            <a:spLocks xmlns:a="http://schemas.openxmlformats.org/drawingml/2006/main" noGrp="1"/>
          </p:cNvSpPr>
          <p:nvPr/>
        </p:nvSpPr>
        <p:spPr>
          <a:xfrm xmlns:a="http://schemas.openxmlformats.org/drawingml/2006/main">
            <a:off x="457200" y="62865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150" b="1">
                <a:solidFill>
                  <a:srgbClr val="000000"/>
                </a:solidFill>
                <a:latin typeface="Arial"/>
                <a:ea typeface="Arial"/>
                <a:cs typeface="Arial"/>
              </a:defRPr>
            </a:pPr>
            <a:r>
              <a:rPr sz="3150" b="1">
                <a:solidFill>
                  <a:srgbClr val="000000"/>
                </a:solidFill>
                <a:latin typeface="Arial"/>
                <a:ea typeface="Arial"/>
                <a:cs typeface="Arial"/>
              </a:rPr>
              <a:t>Proposed charge-redistribution architecture</a:t>
            </a:r>
          </a:p>
        </p:txBody>
      </p:sp>
      <p:sp>
        <p:nvSpPr>
          <p:cNvPr id="2" name="Subtitle">
            <a:extLst xmlns:a="http://schemas.openxmlformats.org/drawingml/2006/main">
              <a:ext uri="{FF2B5EF4-FFF2-40B4-BE49-F238E27FC236}">
                <a16:creationId xmlns:a16="http://schemas.microsoft.com/office/drawing/2014/main" id="{D5D2AF3D-ECD1-4E6A-8A6F-1191230CB0A0}"/>
              </a:ext>
            </a:extLst>
          </p:cNvPr>
          <p:cNvSpPr>
            <a:spLocks xmlns:a="http://schemas.openxmlformats.org/drawingml/2006/main" noGrp="1"/>
          </p:cNvSpPr>
          <p:nvPr/>
        </p:nvSpPr>
        <p:spPr>
          <a:xfrm xmlns:a="http://schemas.openxmlformats.org/drawingml/2006/main">
            <a:off x="457200" y="133350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00" b="0">
                <a:solidFill>
                  <a:srgbClr val="8E6F3E"/>
                </a:solidFill>
                <a:latin typeface="Arial"/>
                <a:ea typeface="Arial"/>
                <a:cs typeface="Arial"/>
              </a:defRPr>
            </a:pPr>
            <a:r>
              <a:rPr sz="1800" b="0">
                <a:solidFill>
                  <a:srgbClr val="8E6F3E"/>
                </a:solidFill>
                <a:latin typeface="Arial"/>
                <a:ea typeface="Arial"/>
                <a:cs typeface="Arial"/>
              </a:rPr>
              <a:t>10-bit fine conversion + 3-bit coarse reference selection</a:t>
            </a:r>
          </a:p>
        </p:txBody>
      </p:sp>
      <p:sp>
        <p:nvSpPr>
          <p:cNvPr id="3" name="text">
            <a:extLst xmlns:a="http://schemas.openxmlformats.org/drawingml/2006/main">
              <a:ext uri="{FF2B5EF4-FFF2-40B4-BE49-F238E27FC236}">
                <a16:creationId xmlns:a16="http://schemas.microsoft.com/office/drawing/2014/main" id="{0254D581-AC5F-4140-823A-0FDAE01B3E42}"/>
              </a:ext>
            </a:extLst>
          </p:cNvPr>
          <p:cNvSpPr>
            <a:spLocks xmlns:a="http://schemas.openxmlformats.org/drawingml/2006/main" noGrp="1"/>
          </p:cNvSpPr>
          <p:nvPr/>
        </p:nvSpPr>
        <p:spPr>
          <a:xfrm xmlns:a="http://schemas.openxmlformats.org/drawingml/2006/main">
            <a:off x="11372850" y="645795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050" b="0">
                <a:solidFill>
                  <a:srgbClr val="555960"/>
                </a:solidFill>
                <a:latin typeface="Arial"/>
                <a:ea typeface="Arial"/>
                <a:cs typeface="Arial"/>
              </a:defRPr>
            </a:pPr>
            <a:r>
              <a:rPr sz="1050" b="0">
                <a:solidFill>
                  <a:srgbClr val="555960"/>
                </a:solidFill>
                <a:latin typeface="Arial"/>
                <a:ea typeface="Arial"/>
                <a:cs typeface="Arial"/>
              </a:rPr>
              <a:t>3</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f6eb188fc3ee4a57"/>
          <a:stretch xmlns:a="http://schemas.openxmlformats.org/drawingml/2006/main"/>
        </p:blipFill>
        <p:spPr>
          <a:xfrm xmlns:a="http://schemas.openxmlformats.org/drawingml/2006/main">
            <a:off x="419100" y="2028825"/>
            <a:ext cx="11334750" cy="3171825"/>
          </a:xfrm>
          <a:prstGeom xmlns:a="http://schemas.openxmlformats.org/drawingml/2006/main" prst="rect">
            <a:avLst/>
          </a:prstGeom>
        </p:spPr>
      </p:pic>
      <p:sp>
        <p:nvSpPr>
          <p:cNvPr id="5" name="text">
            <a:extLst xmlns:a="http://schemas.openxmlformats.org/drawingml/2006/main">
              <a:ext uri="{FF2B5EF4-FFF2-40B4-BE49-F238E27FC236}">
                <a16:creationId xmlns:a16="http://schemas.microsoft.com/office/drawing/2014/main" id="{CF40BE99-DA5C-47D7-BB72-AFEAB58232A8}"/>
              </a:ext>
            </a:extLst>
          </p:cNvPr>
          <p:cNvSpPr>
            <a:spLocks xmlns:a="http://schemas.openxmlformats.org/drawingml/2006/main" noGrp="1"/>
          </p:cNvSpPr>
          <p:nvPr/>
        </p:nvSpPr>
        <p:spPr>
          <a:xfrm xmlns:a="http://schemas.openxmlformats.org/drawingml/2006/main">
            <a:off x="466725" y="1762125"/>
            <a:ext cx="714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950" b="1">
                <a:solidFill>
                  <a:srgbClr val="000000"/>
                </a:solidFill>
                <a:latin typeface="Arial"/>
                <a:ea typeface="Arial"/>
                <a:cs typeface="Arial"/>
              </a:defRPr>
            </a:pPr>
            <a:r>
              <a:rPr sz="1950" b="1">
                <a:solidFill>
                  <a:srgbClr val="000000"/>
                </a:solidFill>
                <a:latin typeface="Arial"/>
                <a:ea typeface="Arial"/>
                <a:cs typeface="Arial"/>
              </a:rPr>
              <a:t>Binary-weighted split array + C_A</a:t>
            </a:r>
          </a:p>
        </p:txBody>
      </p:sp>
      <p:sp>
        <p:nvSpPr>
          <p:cNvPr id="6" name="text">
            <a:extLst xmlns:a="http://schemas.openxmlformats.org/drawingml/2006/main">
              <a:ext uri="{FF2B5EF4-FFF2-40B4-BE49-F238E27FC236}">
                <a16:creationId xmlns:a16="http://schemas.microsoft.com/office/drawing/2014/main" id="{E2B5D9BF-B119-4F53-99C4-27D6B95FE018}"/>
              </a:ext>
            </a:extLst>
          </p:cNvPr>
          <p:cNvSpPr>
            <a:spLocks xmlns:a="http://schemas.openxmlformats.org/drawingml/2006/main" noGrp="1"/>
          </p:cNvSpPr>
          <p:nvPr/>
        </p:nvSpPr>
        <p:spPr>
          <a:xfrm xmlns:a="http://schemas.openxmlformats.org/drawingml/2006/main">
            <a:off x="8334375" y="1762125"/>
            <a:ext cx="3524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950" b="1">
                <a:solidFill>
                  <a:srgbClr val="000000"/>
                </a:solidFill>
                <a:latin typeface="Arial"/>
                <a:ea typeface="Arial"/>
                <a:cs typeface="Arial"/>
              </a:defRPr>
            </a:pPr>
            <a:r>
              <a:rPr sz="1950" b="1">
                <a:solidFill>
                  <a:srgbClr val="000000"/>
                </a:solidFill>
                <a:latin typeface="Arial"/>
                <a:ea typeface="Arial"/>
                <a:cs typeface="Arial"/>
              </a:rPr>
              <a:t>DEMUX + storage, ×8</a:t>
            </a:r>
          </a:p>
        </p:txBody>
      </p:sp>
      <p:sp>
        <p:nvSpPr>
          <p:cNvPr id="7" name="text">
            <a:extLst xmlns:a="http://schemas.openxmlformats.org/drawingml/2006/main">
              <a:ext uri="{FF2B5EF4-FFF2-40B4-BE49-F238E27FC236}">
                <a16:creationId xmlns:a16="http://schemas.microsoft.com/office/drawing/2014/main" id="{2C2C2804-D6F3-4AC2-B65D-3A6EA53BA518}"/>
              </a:ext>
            </a:extLst>
          </p:cNvPr>
          <p:cNvSpPr>
            <a:spLocks xmlns:a="http://schemas.openxmlformats.org/drawingml/2006/main" noGrp="1"/>
          </p:cNvSpPr>
          <p:nvPr/>
        </p:nvSpPr>
        <p:spPr>
          <a:xfrm xmlns:a="http://schemas.openxmlformats.org/drawingml/2006/main">
            <a:off x="476250" y="5248275"/>
            <a:ext cx="11239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725" b="1">
                <a:solidFill>
                  <a:srgbClr val="000000"/>
                </a:solidFill>
                <a:latin typeface="Arial"/>
                <a:ea typeface="Arial"/>
                <a:cs typeface="Arial"/>
              </a:defRPr>
            </a:pPr>
            <a:r>
              <a:rPr sz="1725" b="1">
                <a:solidFill>
                  <a:srgbClr val="000000"/>
                </a:solidFill>
                <a:latin typeface="Arial"/>
                <a:ea typeface="Arial"/>
                <a:cs typeface="Arial"/>
              </a:rPr>
              <a:t>Buffer-less charge sharing lowers analog overhead. Refresh maintains each output.</a:t>
            </a:r>
          </a:p>
        </p:txBody>
      </p:sp>
      <p:sp>
        <p:nvSpPr>
          <p:cNvPr id="11" name="">
            <a:extLst xmlns:a="http://schemas.openxmlformats.org/drawingml/2006/main">
              <a:ext uri="{FF2B5EF4-FFF2-40B4-BE49-F238E27FC236}">
                <a16:creationId xmlns:a16="http://schemas.microsoft.com/office/drawing/2014/main" id="{7E64B51D-8E27-4179-9EF9-0E620C19AF84}"/>
              </a:ext>
            </a:extLst>
          </p:cNvPr>
          <p:cNvSpPr>
            <a:spLocks xmlns:a="http://schemas.openxmlformats.org/drawingml/2006/main" noGrp="1"/>
          </p:cNvSpPr>
          <p:nvPr/>
        </p:nvSpPr>
        <p:spPr>
          <a:xfrm xmlns:a="http://schemas.openxmlformats.org/drawingml/2006/main">
            <a:off x="476250" y="5695950"/>
            <a:ext cx="11239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960"/>
                </a:solidFill>
                <a:latin typeface="Arial"/>
                <a:ea typeface="Arial"/>
                <a:cs typeface="Arial"/>
              </a:defRPr>
            </a:pPr>
            <a:r>
              <a:rPr sz="1350" b="0">
                <a:solidFill>
                  <a:srgbClr val="555960"/>
                </a:solidFill>
                <a:latin typeface="Arial"/>
                <a:ea typeface="Arial"/>
                <a:cs typeface="Arial"/>
              </a:rPr>
              <a:t>[1] P. Vliex et al., “Bias Voltage DAC Operating at Cryogenic Temperatures for Solid-State Qubit</a:t>
            </a:r>
          </a:p>
        </p:txBody>
      </p:sp>
      <p:sp>
        <p:nvSpPr>
          <p:cNvPr id="12" name="">
            <a:extLst xmlns:a="http://schemas.openxmlformats.org/drawingml/2006/main">
              <a:ext uri="{FF2B5EF4-FFF2-40B4-BE49-F238E27FC236}">
                <a16:creationId xmlns:a16="http://schemas.microsoft.com/office/drawing/2014/main" id="{9A167D9E-C7B4-4BFB-B473-5E95B8C5C7CA}"/>
              </a:ext>
            </a:extLst>
          </p:cNvPr>
          <p:cNvSpPr>
            <a:spLocks xmlns:a="http://schemas.openxmlformats.org/drawingml/2006/main" noGrp="1"/>
          </p:cNvSpPr>
          <p:nvPr/>
        </p:nvSpPr>
        <p:spPr>
          <a:xfrm xmlns:a="http://schemas.openxmlformats.org/drawingml/2006/main">
            <a:off x="476250" y="5934075"/>
            <a:ext cx="11239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960"/>
                </a:solidFill>
                <a:latin typeface="Arial"/>
                <a:ea typeface="Arial"/>
                <a:cs typeface="Arial"/>
              </a:defRPr>
            </a:pPr>
            <a:r>
              <a:rPr sz="1350" b="0">
                <a:solidFill>
                  <a:srgbClr val="555960"/>
                </a:solidFill>
                <a:latin typeface="Arial"/>
                <a:ea typeface="Arial"/>
                <a:cs typeface="Arial"/>
              </a:rPr>
              <a:t>Applications,” IEEE Solid-State Circuits Letters, vol. 3, pp. 218–221, 2020. DOI: 10.1109/LSSC.2020.3011576</a:t>
            </a:r>
          </a:p>
        </p:txBody>
      </p:sp>
      <p:sp>
        <p:nvSpPr>
          <p:cNvPr id="13" name="">
            <a:extLst xmlns:a="http://schemas.openxmlformats.org/drawingml/2006/main">
              <a:ext uri="{FF2B5EF4-FFF2-40B4-BE49-F238E27FC236}">
                <a16:creationId xmlns:a16="http://schemas.microsoft.com/office/drawing/2014/main" id="{422D9F47-C620-4A01-B8AF-A57AE5EB2E6F}"/>
              </a:ext>
            </a:extLst>
          </p:cNvPr>
          <p:cNvSpPr>
            <a:spLocks xmlns:a="http://schemas.openxmlformats.org/drawingml/2006/main" noGrp="1"/>
          </p:cNvSpPr>
          <p:nvPr/>
        </p:nvSpPr>
        <p:spPr>
          <a:xfrm xmlns:a="http://schemas.openxmlformats.org/drawingml/2006/main">
            <a:off x="476250" y="6200775"/>
            <a:ext cx="1123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55960"/>
                </a:solidFill>
                <a:latin typeface="Arial"/>
                <a:ea typeface="Arial"/>
                <a:cs typeface="Arial"/>
              </a:defRPr>
            </a:pPr>
            <a:r>
              <a:rPr sz="1275" b="0">
                <a:solidFill>
                  <a:srgbClr val="555960"/>
                </a:solidFill>
                <a:latin typeface="Arial"/>
                <a:ea typeface="Arial"/>
                <a:cs typeface="Arial"/>
              </a:rPr>
              <a:t>Adapted from Figs. 2–3. Added model assumptions: parasitic capacitance, reset to V_L and leakage.</a:t>
            </a:r>
          </a:p>
        </p:txBody>
      </p:sp>
    </p:spTree>
    <p:extLst>
      <p:ext uri="{BB962C8B-B14F-4D97-AF65-F5344CB8AC3E}">
        <p14:creationId xmlns:p14="http://schemas.microsoft.com/office/powerpoint/2010/main" val="221550553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1E78A3F4-A253-498D-BDFB-7D9912323D6E}"/>
              </a:ext>
            </a:extLst>
          </p:cNvPr>
          <p:cNvSpPr>
            <a:spLocks xmlns:a="http://schemas.openxmlformats.org/drawingml/2006/main" noGrp="1"/>
          </p:cNvSpPr>
          <p:nvPr/>
        </p:nvSpPr>
        <p:spPr>
          <a:xfrm xmlns:a="http://schemas.openxmlformats.org/drawingml/2006/main">
            <a:off x="457200" y="62865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150" b="1">
                <a:solidFill>
                  <a:srgbClr val="000000"/>
                </a:solidFill>
                <a:latin typeface="Arial"/>
                <a:ea typeface="Arial"/>
                <a:cs typeface="Arial"/>
              </a:defRPr>
            </a:pPr>
            <a:r>
              <a:rPr sz="3150" b="1">
                <a:solidFill>
                  <a:srgbClr val="000000"/>
                </a:solidFill>
                <a:latin typeface="Arial"/>
                <a:ea typeface="Arial"/>
                <a:cs typeface="Arial"/>
              </a:rPr>
              <a:t>Behavioral progress: coarse-region gaps</a:t>
            </a:r>
          </a:p>
        </p:txBody>
      </p:sp>
      <p:sp>
        <p:nvSpPr>
          <p:cNvPr id="2" name="Subtitle">
            <a:extLst xmlns:a="http://schemas.openxmlformats.org/drawingml/2006/main">
              <a:ext uri="{FF2B5EF4-FFF2-40B4-BE49-F238E27FC236}">
                <a16:creationId xmlns:a16="http://schemas.microsoft.com/office/drawing/2014/main" id="{F49EBF73-82E1-443A-89DF-6C1AC6BF2B95}"/>
              </a:ext>
            </a:extLst>
          </p:cNvPr>
          <p:cNvSpPr>
            <a:spLocks xmlns:a="http://schemas.openxmlformats.org/drawingml/2006/main" noGrp="1"/>
          </p:cNvSpPr>
          <p:nvPr/>
        </p:nvSpPr>
        <p:spPr>
          <a:xfrm xmlns:a="http://schemas.openxmlformats.org/drawingml/2006/main">
            <a:off x="457200" y="133350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00" b="0">
                <a:solidFill>
                  <a:srgbClr val="8E6F3E"/>
                </a:solidFill>
                <a:latin typeface="Arial"/>
                <a:ea typeface="Arial"/>
                <a:cs typeface="Arial"/>
              </a:defRPr>
            </a:pPr>
            <a:r>
              <a:rPr sz="1800" b="0">
                <a:solidFill>
                  <a:srgbClr val="8E6F3E"/>
                </a:solidFill>
                <a:latin typeface="Arial"/>
                <a:ea typeface="Arial"/>
                <a:cs typeface="Arial"/>
              </a:rPr>
              <a:t>Modeled parasitic attenuation: α = 0.064, with reset to the lower reference</a:t>
            </a:r>
          </a:p>
        </p:txBody>
      </p:sp>
      <p:sp>
        <p:nvSpPr>
          <p:cNvPr id="3" name="text">
            <a:extLst xmlns:a="http://schemas.openxmlformats.org/drawingml/2006/main">
              <a:ext uri="{FF2B5EF4-FFF2-40B4-BE49-F238E27FC236}">
                <a16:creationId xmlns:a16="http://schemas.microsoft.com/office/drawing/2014/main" id="{DC7AD3AD-2F57-42CC-8FB6-8CA8CBF625A5}"/>
              </a:ext>
            </a:extLst>
          </p:cNvPr>
          <p:cNvSpPr>
            <a:spLocks xmlns:a="http://schemas.openxmlformats.org/drawingml/2006/main" noGrp="1"/>
          </p:cNvSpPr>
          <p:nvPr/>
        </p:nvSpPr>
        <p:spPr>
          <a:xfrm xmlns:a="http://schemas.openxmlformats.org/drawingml/2006/main">
            <a:off x="11372850" y="645795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050" b="0">
                <a:solidFill>
                  <a:srgbClr val="555960"/>
                </a:solidFill>
                <a:latin typeface="Arial"/>
                <a:ea typeface="Arial"/>
                <a:cs typeface="Arial"/>
              </a:defRPr>
            </a:pPr>
            <a:r>
              <a:rPr sz="1050" b="0">
                <a:solidFill>
                  <a:srgbClr val="555960"/>
                </a:solidFill>
                <a:latin typeface="Arial"/>
                <a:ea typeface="Arial"/>
                <a:cs typeface="Arial"/>
              </a:rPr>
              <a:t>4</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ad095596fdc142ed"/>
          <a:stretch xmlns:a="http://schemas.openxmlformats.org/drawingml/2006/main"/>
        </p:blipFill>
        <p:spPr>
          <a:xfrm xmlns:a="http://schemas.openxmlformats.org/drawingml/2006/main">
            <a:off x="1777599" y="1924050"/>
            <a:ext cx="8598701" cy="4076700"/>
          </a:xfrm>
          <a:prstGeom xmlns:a="http://schemas.openxmlformats.org/drawingml/2006/main" prst="rect">
            <a:avLst/>
          </a:prstGeom>
        </p:spPr>
      </p:pic>
      <p:sp>
        <p:nvSpPr>
          <p:cNvPr id="5" name="text">
            <a:extLst xmlns:a="http://schemas.openxmlformats.org/drawingml/2006/main">
              <a:ext uri="{FF2B5EF4-FFF2-40B4-BE49-F238E27FC236}">
                <a16:creationId xmlns:a16="http://schemas.microsoft.com/office/drawing/2014/main" id="{0CFC941E-1686-4B35-B17F-FD069764B26F}"/>
              </a:ext>
            </a:extLst>
          </p:cNvPr>
          <p:cNvSpPr>
            <a:spLocks xmlns:a="http://schemas.openxmlformats.org/drawingml/2006/main" noGrp="1"/>
          </p:cNvSpPr>
          <p:nvPr/>
        </p:nvSpPr>
        <p:spPr>
          <a:xfrm xmlns:a="http://schemas.openxmlformats.org/drawingml/2006/main">
            <a:off x="476250" y="5924550"/>
            <a:ext cx="11191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00" b="1">
                <a:solidFill>
                  <a:srgbClr val="000000"/>
                </a:solidFill>
                <a:latin typeface="Arial"/>
                <a:ea typeface="Arial"/>
                <a:cs typeface="Arial"/>
              </a:defRPr>
            </a:pPr>
            <a:r>
              <a:rPr sz="1800" b="1">
                <a:solidFill>
                  <a:srgbClr val="000000"/>
                </a:solidFill>
                <a:latin typeface="Arial"/>
                <a:ea typeface="Arial"/>
                <a:cs typeface="Arial"/>
              </a:rPr>
              <a:t>Intermediate spans [1] add missing levels. Gain/offset calibration alone cannot fill the gap.</a:t>
            </a:r>
          </a:p>
        </p:txBody>
      </p:sp>
      <p:sp>
        <p:nvSpPr>
          <p:cNvPr id="6" name="text">
            <a:extLst xmlns:a="http://schemas.openxmlformats.org/drawingml/2006/main">
              <a:ext uri="{FF2B5EF4-FFF2-40B4-BE49-F238E27FC236}">
                <a16:creationId xmlns:a16="http://schemas.microsoft.com/office/drawing/2014/main" id="{9C45AACE-BEE7-4AAC-8119-675C2020CE28}"/>
              </a:ext>
            </a:extLst>
          </p:cNvPr>
          <p:cNvSpPr>
            <a:spLocks xmlns:a="http://schemas.openxmlformats.org/drawingml/2006/main" noGrp="1"/>
          </p:cNvSpPr>
          <p:nvPr/>
        </p:nvSpPr>
        <p:spPr>
          <a:xfrm xmlns:a="http://schemas.openxmlformats.org/drawingml/2006/main">
            <a:off x="476250" y="6267450"/>
            <a:ext cx="110966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b="0">
                <a:solidFill>
                  <a:srgbClr val="555960"/>
                </a:solidFill>
                <a:latin typeface="Arial"/>
                <a:ea typeface="Arial"/>
                <a:cs typeface="Arial"/>
              </a:defRPr>
            </a:pPr>
            <a:r>
              <a:rPr sz="1200" b="0">
                <a:solidFill>
                  <a:srgbClr val="555960"/>
                </a:solidFill>
                <a:latin typeface="Arial"/>
                <a:ea typeface="Arial"/>
                <a:cs typeface="Arial"/>
              </a:rPr>
              <a:t>Model: ≈8.1 mV jump, intermediate spacing ≈2 LSB. Full-scale endpoint coverage remains open.</a:t>
            </a:r>
          </a:p>
        </p:txBody>
      </p:sp>
    </p:spTree>
    <p:extLst>
      <p:ext uri="{BB962C8B-B14F-4D97-AF65-F5344CB8AC3E}">
        <p14:creationId xmlns:p14="http://schemas.microsoft.com/office/powerpoint/2010/main" val="221550553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2015CFD-2D5A-4E37-91A0-F869ABDAE2A2}"/>
              </a:ext>
            </a:extLst>
          </p:cNvPr>
          <p:cNvSpPr>
            <a:spLocks xmlns:a="http://schemas.openxmlformats.org/drawingml/2006/main" noGrp="1"/>
          </p:cNvSpPr>
          <p:nvPr/>
        </p:nvSpPr>
        <p:spPr>
          <a:xfrm xmlns:a="http://schemas.openxmlformats.org/drawingml/2006/main">
            <a:off x="457200" y="62865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000000"/>
                </a:solidFill>
                <a:latin typeface="Arial"/>
                <a:ea typeface="Arial"/>
                <a:cs typeface="Arial"/>
              </a:defRPr>
            </a:pPr>
            <a:r>
              <a:rPr sz="3150" b="1">
                <a:solidFill>
                  <a:srgbClr val="000000"/>
                </a:solidFill>
                <a:latin typeface="Arial"/>
                <a:ea typeface="Arial"/>
                <a:cs typeface="Arial"/>
              </a:rPr>
              <a:t>Possible challenges</a:t>
            </a:r>
          </a:p>
        </p:txBody>
      </p:sp>
      <p:sp>
        <p:nvSpPr>
          <p:cNvPr id="2" name="">
            <a:extLst xmlns:a="http://schemas.openxmlformats.org/drawingml/2006/main">
              <a:ext uri="{FF2B5EF4-FFF2-40B4-BE49-F238E27FC236}">
                <a16:creationId xmlns:a16="http://schemas.microsoft.com/office/drawing/2014/main" id="{D6651AC9-E9DC-44C0-A9F4-35BE9E3DC7C1}"/>
              </a:ext>
            </a:extLst>
          </p:cNvPr>
          <p:cNvSpPr>
            <a:spLocks xmlns:a="http://schemas.openxmlformats.org/drawingml/2006/main" noGrp="1"/>
          </p:cNvSpPr>
          <p:nvPr/>
        </p:nvSpPr>
        <p:spPr>
          <a:xfrm xmlns:a="http://schemas.openxmlformats.org/drawingml/2006/main">
            <a:off x="457200" y="133350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8E6F3E"/>
                </a:solidFill>
                <a:latin typeface="Arial"/>
                <a:ea typeface="Arial"/>
                <a:cs typeface="Arial"/>
              </a:defRPr>
            </a:pPr>
            <a:r>
              <a:rPr sz="1800" b="0">
                <a:solidFill>
                  <a:srgbClr val="8E6F3E"/>
                </a:solidFill>
                <a:latin typeface="Arial"/>
                <a:ea typeface="Arial"/>
                <a:cs typeface="Arial"/>
              </a:rPr>
              <a:t>Behavioral findings and circuit-level risks to resolve</a:t>
            </a:r>
          </a:p>
        </p:txBody>
      </p:sp>
      <p:sp>
        <p:nvSpPr>
          <p:cNvPr id="3" name="">
            <a:extLst xmlns:a="http://schemas.openxmlformats.org/drawingml/2006/main">
              <a:ext uri="{FF2B5EF4-FFF2-40B4-BE49-F238E27FC236}">
                <a16:creationId xmlns:a16="http://schemas.microsoft.com/office/drawing/2014/main" id="{BF105158-E972-4D02-BA8F-D83C6A7B661C}"/>
              </a:ext>
            </a:extLst>
          </p:cNvPr>
          <p:cNvSpPr>
            <a:spLocks xmlns:a="http://schemas.openxmlformats.org/drawingml/2006/main" noGrp="1"/>
          </p:cNvSpPr>
          <p:nvPr/>
        </p:nvSpPr>
        <p:spPr>
          <a:xfrm xmlns:a="http://schemas.openxmlformats.org/drawingml/2006/main">
            <a:off x="476250" y="2038350"/>
            <a:ext cx="3581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8E6F3E"/>
                </a:solidFill>
                <a:latin typeface="Arial"/>
                <a:ea typeface="Arial"/>
                <a:cs typeface="Arial"/>
              </a:defRPr>
            </a:pPr>
            <a:r>
              <a:rPr sz="2100" b="1">
                <a:solidFill>
                  <a:srgbClr val="8E6F3E"/>
                </a:solidFill>
                <a:latin typeface="Arial"/>
                <a:ea typeface="Arial"/>
                <a:cs typeface="Arial"/>
              </a:rPr>
              <a:t>Mismatch and parasitics</a:t>
            </a:r>
          </a:p>
        </p:txBody>
      </p:sp>
      <p:sp>
        <p:nvSpPr>
          <p:cNvPr id="4" name="">
            <a:extLst xmlns:a="http://schemas.openxmlformats.org/drawingml/2006/main">
              <a:ext uri="{FF2B5EF4-FFF2-40B4-BE49-F238E27FC236}">
                <a16:creationId xmlns:a16="http://schemas.microsoft.com/office/drawing/2014/main" id="{982FA4CC-383C-489F-B8FD-5D23B812FE82}"/>
              </a:ext>
            </a:extLst>
          </p:cNvPr>
          <p:cNvSpPr>
            <a:spLocks xmlns:a="http://schemas.openxmlformats.org/drawingml/2006/main" noGrp="1"/>
          </p:cNvSpPr>
          <p:nvPr/>
        </p:nvSpPr>
        <p:spPr>
          <a:xfrm xmlns:a="http://schemas.openxmlformats.org/drawingml/2006/main">
            <a:off x="4191000" y="2038350"/>
            <a:ext cx="7572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0000"/>
                </a:solidFill>
                <a:latin typeface="Arial"/>
                <a:ea typeface="Arial"/>
                <a:cs typeface="Arial"/>
              </a:defRPr>
            </a:pPr>
            <a:r>
              <a:rPr sz="1800" b="1">
                <a:solidFill>
                  <a:srgbClr val="000000"/>
                </a:solidFill>
                <a:latin typeface="Arial"/>
                <a:ea typeface="Arial"/>
                <a:cs typeface="Arial"/>
              </a:rPr>
              <a:t>DNL/INL errors, gain error and gaps between coarse regions</a:t>
            </a:r>
          </a:p>
        </p:txBody>
      </p:sp>
      <p:sp>
        <p:nvSpPr>
          <p:cNvPr id="5" name="">
            <a:extLst xmlns:a="http://schemas.openxmlformats.org/drawingml/2006/main">
              <a:ext uri="{FF2B5EF4-FFF2-40B4-BE49-F238E27FC236}">
                <a16:creationId xmlns:a16="http://schemas.microsoft.com/office/drawing/2014/main" id="{CB2EB051-DD98-4241-A1A2-2981D8B3B421}"/>
              </a:ext>
            </a:extLst>
          </p:cNvPr>
          <p:cNvSpPr>
            <a:spLocks xmlns:a="http://schemas.openxmlformats.org/drawingml/2006/main" noGrp="1"/>
          </p:cNvSpPr>
          <p:nvPr/>
        </p:nvSpPr>
        <p:spPr>
          <a:xfrm xmlns:a="http://schemas.openxmlformats.org/drawingml/2006/main">
            <a:off x="4191000" y="2419350"/>
            <a:ext cx="7572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55960"/>
                </a:solidFill>
                <a:latin typeface="Arial"/>
                <a:ea typeface="Arial"/>
                <a:cs typeface="Arial"/>
              </a:defRPr>
            </a:pPr>
            <a:r>
              <a:rPr sz="1725" b="0">
                <a:solidFill>
                  <a:srgbClr val="555960"/>
                </a:solidFill>
                <a:latin typeface="Arial"/>
                <a:ea typeface="Arial"/>
                <a:cs typeface="Arial"/>
              </a:rPr>
              <a:t>Compare coding, add range overlap and calibrate gain/offset</a:t>
            </a:r>
          </a:p>
        </p:txBody>
      </p:sp>
      <p:sp>
        <p:nvSpPr>
          <p:cNvPr id="6" name="">
            <a:extLst xmlns:a="http://schemas.openxmlformats.org/drawingml/2006/main">
              <a:ext uri="{FF2B5EF4-FFF2-40B4-BE49-F238E27FC236}">
                <a16:creationId xmlns:a16="http://schemas.microsoft.com/office/drawing/2014/main" id="{2E0A950C-BD3D-485C-8410-852EE169A4B0}"/>
              </a:ext>
            </a:extLst>
          </p:cNvPr>
          <p:cNvSpPr>
            <a:spLocks xmlns:a="http://schemas.openxmlformats.org/drawingml/2006/main" noGrp="1"/>
          </p:cNvSpPr>
          <p:nvPr/>
        </p:nvSpPr>
        <p:spPr>
          <a:xfrm xmlns:a="http://schemas.openxmlformats.org/drawingml/2006/main">
            <a:off x="476250" y="3048000"/>
            <a:ext cx="3581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8E6F3E"/>
                </a:solidFill>
                <a:latin typeface="Arial"/>
                <a:ea typeface="Arial"/>
                <a:cs typeface="Arial"/>
              </a:defRPr>
            </a:pPr>
            <a:r>
              <a:rPr sz="2100" b="1">
                <a:solidFill>
                  <a:srgbClr val="8E6F3E"/>
                </a:solidFill>
                <a:latin typeface="Arial"/>
                <a:ea typeface="Arial"/>
                <a:cs typeface="Arial"/>
              </a:rPr>
              <a:t>Leakage and refresh</a:t>
            </a:r>
          </a:p>
        </p:txBody>
      </p:sp>
      <p:sp>
        <p:nvSpPr>
          <p:cNvPr id="7" name="">
            <a:extLst xmlns:a="http://schemas.openxmlformats.org/drawingml/2006/main">
              <a:ext uri="{FF2B5EF4-FFF2-40B4-BE49-F238E27FC236}">
                <a16:creationId xmlns:a16="http://schemas.microsoft.com/office/drawing/2014/main" id="{447914E4-41E9-4FDD-BF92-720886FB34C1}"/>
              </a:ext>
            </a:extLst>
          </p:cNvPr>
          <p:cNvSpPr>
            <a:spLocks xmlns:a="http://schemas.openxmlformats.org/drawingml/2006/main" noGrp="1"/>
          </p:cNvSpPr>
          <p:nvPr/>
        </p:nvSpPr>
        <p:spPr>
          <a:xfrm xmlns:a="http://schemas.openxmlformats.org/drawingml/2006/main">
            <a:off x="4191000" y="3048000"/>
            <a:ext cx="7572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0000"/>
                </a:solidFill>
                <a:latin typeface="Arial"/>
                <a:ea typeface="Arial"/>
                <a:cs typeface="Arial"/>
              </a:defRPr>
            </a:pPr>
            <a:r>
              <a:rPr sz="1800" b="1">
                <a:solidFill>
                  <a:srgbClr val="000000"/>
                </a:solidFill>
                <a:latin typeface="Arial"/>
                <a:ea typeface="Arial"/>
                <a:cs typeface="Arial"/>
              </a:rPr>
              <a:t>Held-voltage droop competes with the switching-power budget</a:t>
            </a:r>
          </a:p>
        </p:txBody>
      </p:sp>
      <p:sp>
        <p:nvSpPr>
          <p:cNvPr id="8" name="">
            <a:extLst xmlns:a="http://schemas.openxmlformats.org/drawingml/2006/main">
              <a:ext uri="{FF2B5EF4-FFF2-40B4-BE49-F238E27FC236}">
                <a16:creationId xmlns:a16="http://schemas.microsoft.com/office/drawing/2014/main" id="{BE742500-AFB7-4A6D-B956-256747EC00A2}"/>
              </a:ext>
            </a:extLst>
          </p:cNvPr>
          <p:cNvSpPr>
            <a:spLocks xmlns:a="http://schemas.openxmlformats.org/drawingml/2006/main" noGrp="1"/>
          </p:cNvSpPr>
          <p:nvPr/>
        </p:nvSpPr>
        <p:spPr>
          <a:xfrm xmlns:a="http://schemas.openxmlformats.org/drawingml/2006/main">
            <a:off x="4191000" y="3429000"/>
            <a:ext cx="7572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55960"/>
                </a:solidFill>
                <a:latin typeface="Arial"/>
                <a:ea typeface="Arial"/>
                <a:cs typeface="Arial"/>
              </a:defRPr>
            </a:pPr>
            <a:r>
              <a:rPr sz="1725" b="0">
                <a:solidFill>
                  <a:srgbClr val="555960"/>
                </a:solidFill>
                <a:latin typeface="Arial"/>
                <a:ea typeface="Arial"/>
                <a:cs typeface="Arial"/>
              </a:rPr>
              <a:t>Size storage capacitance and choose refresh rate from leakage</a:t>
            </a:r>
          </a:p>
        </p:txBody>
      </p:sp>
      <p:sp>
        <p:nvSpPr>
          <p:cNvPr id="9" name="">
            <a:extLst xmlns:a="http://schemas.openxmlformats.org/drawingml/2006/main">
              <a:ext uri="{FF2B5EF4-FFF2-40B4-BE49-F238E27FC236}">
                <a16:creationId xmlns:a16="http://schemas.microsoft.com/office/drawing/2014/main" id="{2D6A92A4-2DDE-4EB3-BE98-BA3763E45E25}"/>
              </a:ext>
            </a:extLst>
          </p:cNvPr>
          <p:cNvSpPr>
            <a:spLocks xmlns:a="http://schemas.openxmlformats.org/drawingml/2006/main" noGrp="1"/>
          </p:cNvSpPr>
          <p:nvPr/>
        </p:nvSpPr>
        <p:spPr>
          <a:xfrm xmlns:a="http://schemas.openxmlformats.org/drawingml/2006/main">
            <a:off x="476250" y="4057650"/>
            <a:ext cx="3581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8E6F3E"/>
                </a:solidFill>
                <a:latin typeface="Arial"/>
                <a:ea typeface="Arial"/>
                <a:cs typeface="Arial"/>
              </a:defRPr>
            </a:pPr>
            <a:r>
              <a:rPr sz="2100" b="1">
                <a:solidFill>
                  <a:srgbClr val="8E6F3E"/>
                </a:solidFill>
                <a:latin typeface="Arial"/>
                <a:ea typeface="Arial"/>
                <a:cs typeface="Arial"/>
              </a:rPr>
              <a:t>Switching accuracy</a:t>
            </a:r>
          </a:p>
        </p:txBody>
      </p:sp>
      <p:sp>
        <p:nvSpPr>
          <p:cNvPr id="10" name="">
            <a:extLst xmlns:a="http://schemas.openxmlformats.org/drawingml/2006/main">
              <a:ext uri="{FF2B5EF4-FFF2-40B4-BE49-F238E27FC236}">
                <a16:creationId xmlns:a16="http://schemas.microsoft.com/office/drawing/2014/main" id="{280D6296-FDFD-4631-9FE7-1BFB408F4CAE}"/>
              </a:ext>
            </a:extLst>
          </p:cNvPr>
          <p:cNvSpPr>
            <a:spLocks xmlns:a="http://schemas.openxmlformats.org/drawingml/2006/main" noGrp="1"/>
          </p:cNvSpPr>
          <p:nvPr/>
        </p:nvSpPr>
        <p:spPr>
          <a:xfrm xmlns:a="http://schemas.openxmlformats.org/drawingml/2006/main">
            <a:off x="4191000" y="4057650"/>
            <a:ext cx="7572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0000"/>
                </a:solidFill>
                <a:latin typeface="Arial"/>
                <a:ea typeface="Arial"/>
                <a:cs typeface="Arial"/>
              </a:defRPr>
            </a:pPr>
            <a:r>
              <a:rPr sz="1800" b="1">
                <a:solidFill>
                  <a:srgbClr val="000000"/>
                </a:solidFill>
                <a:latin typeface="Arial"/>
                <a:ea typeface="Arial"/>
                <a:cs typeface="Arial"/>
              </a:rPr>
              <a:t>Finite settling and charge injection disturb the held voltage</a:t>
            </a:r>
          </a:p>
        </p:txBody>
      </p:sp>
      <p:sp>
        <p:nvSpPr>
          <p:cNvPr id="11" name="">
            <a:extLst xmlns:a="http://schemas.openxmlformats.org/drawingml/2006/main">
              <a:ext uri="{FF2B5EF4-FFF2-40B4-BE49-F238E27FC236}">
                <a16:creationId xmlns:a16="http://schemas.microsoft.com/office/drawing/2014/main" id="{258A9CFF-19CD-4A4D-89EB-B1B77EBFC802}"/>
              </a:ext>
            </a:extLst>
          </p:cNvPr>
          <p:cNvSpPr>
            <a:spLocks xmlns:a="http://schemas.openxmlformats.org/drawingml/2006/main" noGrp="1"/>
          </p:cNvSpPr>
          <p:nvPr/>
        </p:nvSpPr>
        <p:spPr>
          <a:xfrm xmlns:a="http://schemas.openxmlformats.org/drawingml/2006/main">
            <a:off x="4191000" y="4438650"/>
            <a:ext cx="7572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55960"/>
                </a:solidFill>
                <a:latin typeface="Arial"/>
                <a:ea typeface="Arial"/>
                <a:cs typeface="Arial"/>
              </a:defRPr>
            </a:pPr>
            <a:r>
              <a:rPr sz="1725" b="0">
                <a:solidFill>
                  <a:srgbClr val="555960"/>
                </a:solidFill>
                <a:latin typeface="Arial"/>
                <a:ea typeface="Arial"/>
                <a:cs typeface="Arial"/>
              </a:rPr>
              <a:t>Simulate switch sizing, timing and output error in Cadence</a:t>
            </a:r>
          </a:p>
        </p:txBody>
      </p:sp>
      <p:sp>
        <p:nvSpPr>
          <p:cNvPr id="12" name="">
            <a:extLst xmlns:a="http://schemas.openxmlformats.org/drawingml/2006/main">
              <a:ext uri="{FF2B5EF4-FFF2-40B4-BE49-F238E27FC236}">
                <a16:creationId xmlns:a16="http://schemas.microsoft.com/office/drawing/2014/main" id="{35EAFF5F-4141-44D7-A3C1-698E20010600}"/>
              </a:ext>
            </a:extLst>
          </p:cNvPr>
          <p:cNvSpPr>
            <a:spLocks xmlns:a="http://schemas.openxmlformats.org/drawingml/2006/main" noGrp="1"/>
          </p:cNvSpPr>
          <p:nvPr/>
        </p:nvSpPr>
        <p:spPr>
          <a:xfrm xmlns:a="http://schemas.openxmlformats.org/drawingml/2006/main">
            <a:off x="476250" y="5067300"/>
            <a:ext cx="3581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8E6F3E"/>
                </a:solidFill>
                <a:latin typeface="Arial"/>
                <a:ea typeface="Arial"/>
                <a:cs typeface="Arial"/>
              </a:defRPr>
            </a:pPr>
            <a:r>
              <a:rPr sz="2100" b="1">
                <a:solidFill>
                  <a:srgbClr val="8E6F3E"/>
                </a:solidFill>
                <a:latin typeface="Arial"/>
                <a:ea typeface="Arial"/>
                <a:cs typeface="Arial"/>
              </a:rPr>
              <a:t>Cryogenic model validity</a:t>
            </a:r>
          </a:p>
        </p:txBody>
      </p:sp>
      <p:sp>
        <p:nvSpPr>
          <p:cNvPr id="13" name="">
            <a:extLst xmlns:a="http://schemas.openxmlformats.org/drawingml/2006/main">
              <a:ext uri="{FF2B5EF4-FFF2-40B4-BE49-F238E27FC236}">
                <a16:creationId xmlns:a16="http://schemas.microsoft.com/office/drawing/2014/main" id="{7EE12065-0903-4FB6-9FAE-82CE9C661F1D}"/>
              </a:ext>
            </a:extLst>
          </p:cNvPr>
          <p:cNvSpPr>
            <a:spLocks xmlns:a="http://schemas.openxmlformats.org/drawingml/2006/main" noGrp="1"/>
          </p:cNvSpPr>
          <p:nvPr/>
        </p:nvSpPr>
        <p:spPr>
          <a:xfrm xmlns:a="http://schemas.openxmlformats.org/drawingml/2006/main">
            <a:off x="4191000" y="5067300"/>
            <a:ext cx="7572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0000"/>
                </a:solidFill>
                <a:latin typeface="Arial"/>
                <a:ea typeface="Arial"/>
                <a:cs typeface="Arial"/>
              </a:defRPr>
            </a:pPr>
            <a:r>
              <a:rPr sz="1800" b="1">
                <a:solidFill>
                  <a:srgbClr val="000000"/>
                </a:solidFill>
                <a:latin typeface="Arial"/>
                <a:ea typeface="Arial"/>
                <a:cs typeface="Arial"/>
              </a:rPr>
              <a:t>Device shifts may invalidate room-temperature predictions</a:t>
            </a:r>
          </a:p>
        </p:txBody>
      </p:sp>
      <p:sp>
        <p:nvSpPr>
          <p:cNvPr id="14" name="">
            <a:extLst xmlns:a="http://schemas.openxmlformats.org/drawingml/2006/main">
              <a:ext uri="{FF2B5EF4-FFF2-40B4-BE49-F238E27FC236}">
                <a16:creationId xmlns:a16="http://schemas.microsoft.com/office/drawing/2014/main" id="{FD8BBCFC-A1FE-4A42-95F3-BEAA8B0FD487}"/>
              </a:ext>
            </a:extLst>
          </p:cNvPr>
          <p:cNvSpPr>
            <a:spLocks xmlns:a="http://schemas.openxmlformats.org/drawingml/2006/main" noGrp="1"/>
          </p:cNvSpPr>
          <p:nvPr/>
        </p:nvSpPr>
        <p:spPr>
          <a:xfrm xmlns:a="http://schemas.openxmlformats.org/drawingml/2006/main">
            <a:off x="4191000" y="5448300"/>
            <a:ext cx="7572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55960"/>
                </a:solidFill>
                <a:latin typeface="Arial"/>
                <a:ea typeface="Arial"/>
                <a:cs typeface="Arial"/>
              </a:defRPr>
            </a:pPr>
            <a:r>
              <a:rPr sz="1725" b="0">
                <a:solidFill>
                  <a:srgbClr val="555960"/>
                </a:solidFill>
                <a:latin typeface="Arial"/>
                <a:ea typeface="Arial"/>
                <a:cs typeface="Arial"/>
              </a:rPr>
              <a:t>Use cryo models if available, otherwise bound parameter sensitivity</a:t>
            </a:r>
          </a:p>
        </p:txBody>
      </p:sp>
      <p:sp>
        <p:nvSpPr>
          <p:cNvPr id="15" name="">
            <a:extLst xmlns:a="http://schemas.openxmlformats.org/drawingml/2006/main">
              <a:ext uri="{FF2B5EF4-FFF2-40B4-BE49-F238E27FC236}">
                <a16:creationId xmlns:a16="http://schemas.microsoft.com/office/drawing/2014/main" id="{DE57E0AD-201F-4C2F-9684-AB948C850292}"/>
              </a:ext>
            </a:extLst>
          </p:cNvPr>
          <p:cNvSpPr>
            <a:spLocks xmlns:a="http://schemas.openxmlformats.org/drawingml/2006/main" noGrp="1"/>
          </p:cNvSpPr>
          <p:nvPr/>
        </p:nvSpPr>
        <p:spPr>
          <a:xfrm xmlns:a="http://schemas.openxmlformats.org/drawingml/2006/main">
            <a:off x="476250" y="6191250"/>
            <a:ext cx="1123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55960"/>
                </a:solidFill>
                <a:latin typeface="Arial"/>
                <a:ea typeface="Arial"/>
                <a:cs typeface="Arial"/>
              </a:defRPr>
            </a:pPr>
            <a:r>
              <a:rPr sz="1425" b="0">
                <a:solidFill>
                  <a:srgbClr val="555960"/>
                </a:solidFill>
                <a:latin typeface="Arial"/>
                <a:ea typeface="Arial"/>
                <a:cs typeface="Arial"/>
              </a:rPr>
              <a:t>Verification goal: meet bias accuracy while accounting for refresh, settling and total power</a:t>
            </a:r>
          </a:p>
        </p:txBody>
      </p:sp>
      <p:sp>
        <p:nvSpPr>
          <p:cNvPr id="16" name="">
            <a:extLst xmlns:a="http://schemas.openxmlformats.org/drawingml/2006/main">
              <a:ext uri="{FF2B5EF4-FFF2-40B4-BE49-F238E27FC236}">
                <a16:creationId xmlns:a16="http://schemas.microsoft.com/office/drawing/2014/main" id="{D26465C1-3827-4BDB-B893-3DB3B74E658A}"/>
              </a:ext>
            </a:extLst>
          </p:cNvPr>
          <p:cNvSpPr>
            <a:spLocks xmlns:a="http://schemas.openxmlformats.org/drawingml/2006/main" noGrp="1"/>
          </p:cNvSpPr>
          <p:nvPr/>
        </p:nvSpPr>
        <p:spPr>
          <a:xfrm xmlns:a="http://schemas.openxmlformats.org/drawingml/2006/main">
            <a:off x="11372850" y="645795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5960"/>
                </a:solidFill>
                <a:latin typeface="Arial"/>
                <a:ea typeface="Arial"/>
                <a:cs typeface="Arial"/>
              </a:defRPr>
            </a:pPr>
            <a:r>
              <a:rPr sz="1050" b="0">
                <a:solidFill>
                  <a:srgbClr val="555960"/>
                </a:solidFill>
                <a:latin typeface="Arial"/>
                <a:ea typeface="Arial"/>
                <a:cs typeface="Arial"/>
              </a:rPr>
              <a:t>5</a:t>
            </a:r>
          </a:p>
        </p:txBody>
      </p:sp>
    </p:spTree>
    <p:extLst>
      <p:ext uri="{BB962C8B-B14F-4D97-AF65-F5344CB8AC3E}">
        <p14:creationId xmlns:p14="http://schemas.microsoft.com/office/powerpoint/2010/main" val="2215505537"/>
      </p:ext>
    </p:extLst>
  </p:cSld>
</p:sld>
</file>

<file path=ppt/slides/slide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9C66A938-F1BB-416D-93FA-6CAF03B63D33}"/>
              </a:ext>
            </a:extLst>
          </p:cNvPr>
          <p:cNvSpPr>
            <a:spLocks xmlns:a="http://schemas.openxmlformats.org/drawingml/2006/main" noGrp="1"/>
          </p:cNvSpPr>
          <p:nvPr/>
        </p:nvSpPr>
        <p:spPr>
          <a:xfrm xmlns:a="http://schemas.openxmlformats.org/drawingml/2006/main">
            <a:off x="457200" y="62865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150" b="1">
                <a:solidFill>
                  <a:srgbClr val="FFFFFF"/>
                </a:solidFill>
                <a:latin typeface="Arial"/>
                <a:ea typeface="Arial"/>
                <a:cs typeface="Arial"/>
              </a:defRPr>
            </a:pPr>
            <a:r>
              <a:rPr sz="3150" b="1">
                <a:solidFill>
                  <a:srgbClr val="FFFFFF"/>
                </a:solidFill>
                <a:latin typeface="Arial"/>
                <a:ea typeface="Arial"/>
                <a:cs typeface="Arial"/>
              </a:rPr>
              <a:t>Design direction and next steps</a:t>
            </a:r>
          </a:p>
        </p:txBody>
      </p:sp>
      <p:sp>
        <p:nvSpPr>
          <p:cNvPr id="2" name="Subtitle">
            <a:extLst xmlns:a="http://schemas.openxmlformats.org/drawingml/2006/main">
              <a:ext uri="{FF2B5EF4-FFF2-40B4-BE49-F238E27FC236}">
                <a16:creationId xmlns:a16="http://schemas.microsoft.com/office/drawing/2014/main" id="{30465477-A46A-48C9-A719-2C7097C9D2AD}"/>
              </a:ext>
            </a:extLst>
          </p:cNvPr>
          <p:cNvSpPr>
            <a:spLocks xmlns:a="http://schemas.openxmlformats.org/drawingml/2006/main" noGrp="1"/>
          </p:cNvSpPr>
          <p:nvPr/>
        </p:nvSpPr>
        <p:spPr>
          <a:xfrm xmlns:a="http://schemas.openxmlformats.org/drawingml/2006/main">
            <a:off x="457200" y="133350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00" b="0">
                <a:solidFill>
                  <a:srgbClr val="CFB991"/>
                </a:solidFill>
                <a:latin typeface="Arial"/>
                <a:ea typeface="Arial"/>
                <a:cs typeface="Arial"/>
              </a:defRPr>
            </a:pPr>
            <a:r>
              <a:rPr sz="1800" b="0">
                <a:solidFill>
                  <a:srgbClr val="CFB991"/>
                </a:solidFill>
                <a:latin typeface="Arial"/>
                <a:ea typeface="Arial"/>
                <a:cs typeface="Arial"/>
              </a:rPr>
              <a:t>Current stage: behavioral models + early circuit setup</a:t>
            </a:r>
          </a:p>
        </p:txBody>
      </p:sp>
      <p:sp>
        <p:nvSpPr>
          <p:cNvPr id="3" name="text">
            <a:extLst xmlns:a="http://schemas.openxmlformats.org/drawingml/2006/main">
              <a:ext uri="{FF2B5EF4-FFF2-40B4-BE49-F238E27FC236}">
                <a16:creationId xmlns:a16="http://schemas.microsoft.com/office/drawing/2014/main" id="{8CB595D9-E4D9-4150-AE9B-347EF5B0A1B4}"/>
              </a:ext>
            </a:extLst>
          </p:cNvPr>
          <p:cNvSpPr>
            <a:spLocks xmlns:a="http://schemas.openxmlformats.org/drawingml/2006/main" noGrp="1"/>
          </p:cNvSpPr>
          <p:nvPr/>
        </p:nvSpPr>
        <p:spPr>
          <a:xfrm xmlns:a="http://schemas.openxmlformats.org/drawingml/2006/main">
            <a:off x="11372850" y="645795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050" b="0">
                <a:solidFill>
                  <a:srgbClr val="CFB991"/>
                </a:solidFill>
                <a:latin typeface="Arial"/>
                <a:ea typeface="Arial"/>
                <a:cs typeface="Arial"/>
              </a:defRPr>
            </a:pPr>
            <a:r>
              <a:rPr sz="1050" b="0">
                <a:solidFill>
                  <a:srgbClr val="CFB991"/>
                </a:solidFill>
                <a:latin typeface="Arial"/>
                <a:ea typeface="Arial"/>
                <a:cs typeface="Arial"/>
              </a:rPr>
              <a:t>6</a:t>
            </a:r>
          </a:p>
        </p:txBody>
      </p:sp>
      <p:sp>
        <p:nvSpPr>
          <p:cNvPr id="4" name="text">
            <a:extLst xmlns:a="http://schemas.openxmlformats.org/drawingml/2006/main">
              <a:ext uri="{FF2B5EF4-FFF2-40B4-BE49-F238E27FC236}">
                <a16:creationId xmlns:a16="http://schemas.microsoft.com/office/drawing/2014/main" id="{7B2797D3-3B17-464C-B8AF-131B48D1408C}"/>
              </a:ext>
            </a:extLst>
          </p:cNvPr>
          <p:cNvSpPr>
            <a:spLocks xmlns:a="http://schemas.openxmlformats.org/drawingml/2006/main" noGrp="1"/>
          </p:cNvSpPr>
          <p:nvPr/>
        </p:nvSpPr>
        <p:spPr>
          <a:xfrm xmlns:a="http://schemas.openxmlformats.org/drawingml/2006/main">
            <a:off x="476250" y="2000250"/>
            <a:ext cx="95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750" b="1">
                <a:solidFill>
                  <a:srgbClr val="CFB991"/>
                </a:solidFill>
                <a:latin typeface="Arial"/>
                <a:ea typeface="Arial"/>
                <a:cs typeface="Arial"/>
              </a:defRPr>
            </a:pPr>
            <a:r>
              <a:rPr sz="3750" b="1">
                <a:solidFill>
                  <a:srgbClr val="CFB991"/>
                </a:solidFill>
                <a:latin typeface="Arial"/>
                <a:ea typeface="Arial"/>
                <a:cs typeface="Arial"/>
              </a:rPr>
              <a:t>01</a:t>
            </a:r>
          </a:p>
        </p:txBody>
      </p:sp>
      <p:sp>
        <p:nvSpPr>
          <p:cNvPr id="5" name="text">
            <a:extLst xmlns:a="http://schemas.openxmlformats.org/drawingml/2006/main">
              <a:ext uri="{FF2B5EF4-FFF2-40B4-BE49-F238E27FC236}">
                <a16:creationId xmlns:a16="http://schemas.microsoft.com/office/drawing/2014/main" id="{032F73CE-7CD0-414D-AA18-C9BC0ED411E6}"/>
              </a:ext>
            </a:extLst>
          </p:cNvPr>
          <p:cNvSpPr>
            <a:spLocks xmlns:a="http://schemas.openxmlformats.org/drawingml/2006/main" noGrp="1"/>
          </p:cNvSpPr>
          <p:nvPr/>
        </p:nvSpPr>
        <p:spPr>
          <a:xfrm xmlns:a="http://schemas.openxmlformats.org/drawingml/2006/main">
            <a:off x="1600200" y="200025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325" b="1">
                <a:solidFill>
                  <a:srgbClr val="FFFFFF"/>
                </a:solidFill>
                <a:latin typeface="Arial"/>
                <a:ea typeface="Arial"/>
                <a:cs typeface="Arial"/>
              </a:defRPr>
            </a:pPr>
            <a:r>
              <a:rPr sz="2325" b="1">
                <a:solidFill>
                  <a:srgbClr val="FFFFFF"/>
                </a:solidFill>
                <a:latin typeface="Arial"/>
                <a:ea typeface="Arial"/>
                <a:cs typeface="Arial"/>
              </a:rPr>
              <a:t>Close the range gaps</a:t>
            </a:r>
          </a:p>
        </p:txBody>
      </p:sp>
      <p:sp>
        <p:nvSpPr>
          <p:cNvPr id="6" name="text">
            <a:extLst xmlns:a="http://schemas.openxmlformats.org/drawingml/2006/main">
              <a:ext uri="{FF2B5EF4-FFF2-40B4-BE49-F238E27FC236}">
                <a16:creationId xmlns:a16="http://schemas.microsoft.com/office/drawing/2014/main" id="{2C798DFB-729A-4F15-9657-A36A47F05F49}"/>
              </a:ext>
            </a:extLst>
          </p:cNvPr>
          <p:cNvSpPr>
            <a:spLocks xmlns:a="http://schemas.openxmlformats.org/drawingml/2006/main" noGrp="1"/>
          </p:cNvSpPr>
          <p:nvPr/>
        </p:nvSpPr>
        <p:spPr>
          <a:xfrm xmlns:a="http://schemas.openxmlformats.org/drawingml/2006/main">
            <a:off x="1600200" y="246697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75" b="0">
                <a:solidFill>
                  <a:srgbClr val="FFFFFF"/>
                </a:solidFill>
                <a:latin typeface="Arial"/>
                <a:ea typeface="Arial"/>
                <a:cs typeface="Arial"/>
              </a:defRPr>
            </a:pPr>
            <a:r>
              <a:rPr sz="1875" b="0">
                <a:solidFill>
                  <a:srgbClr val="FFFFFF"/>
                </a:solidFill>
                <a:latin typeface="Arial"/>
                <a:ea typeface="Arial"/>
                <a:cs typeface="Arial"/>
              </a:rPr>
              <a:t>Intermediate coarse steps and region overlap</a:t>
            </a:r>
          </a:p>
          <a:p xmlns:a="http://schemas.openxmlformats.org/drawingml/2006/main">
            <a:pPr>
              <a:buNone/>
              <a:defRPr sz="1875" b="0">
                <a:solidFill>
                  <a:srgbClr val="FFFFFF"/>
                </a:solidFill>
                <a:latin typeface="Arial"/>
                <a:ea typeface="Arial"/>
                <a:cs typeface="Arial"/>
              </a:defRPr>
            </a:pPr>
            <a:r>
              <a:rPr sz="1875" b="0">
                <a:solidFill>
                  <a:srgbClr val="FFFFFF"/>
                </a:solidFill>
                <a:latin typeface="Arial"/>
                <a:ea typeface="Arial"/>
                <a:cs typeface="Arial"/>
              </a:rPr>
              <a:t>with digital gain/offset compensation</a:t>
            </a:r>
          </a:p>
        </p:txBody>
      </p:sp>
      <p:sp>
        <p:nvSpPr>
          <p:cNvPr id="7" name="text">
            <a:extLst xmlns:a="http://schemas.openxmlformats.org/drawingml/2006/main">
              <a:ext uri="{FF2B5EF4-FFF2-40B4-BE49-F238E27FC236}">
                <a16:creationId xmlns:a16="http://schemas.microsoft.com/office/drawing/2014/main" id="{B59B8FC8-1F6F-483C-86E9-47025F9F8EBB}"/>
              </a:ext>
            </a:extLst>
          </p:cNvPr>
          <p:cNvSpPr>
            <a:spLocks xmlns:a="http://schemas.openxmlformats.org/drawingml/2006/main" noGrp="1"/>
          </p:cNvSpPr>
          <p:nvPr/>
        </p:nvSpPr>
        <p:spPr>
          <a:xfrm xmlns:a="http://schemas.openxmlformats.org/drawingml/2006/main">
            <a:off x="476250" y="3238500"/>
            <a:ext cx="95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750" b="1">
                <a:solidFill>
                  <a:srgbClr val="CFB991"/>
                </a:solidFill>
                <a:latin typeface="Arial"/>
                <a:ea typeface="Arial"/>
                <a:cs typeface="Arial"/>
              </a:defRPr>
            </a:pPr>
            <a:r>
              <a:rPr sz="3750" b="1">
                <a:solidFill>
                  <a:srgbClr val="CFB991"/>
                </a:solidFill>
                <a:latin typeface="Arial"/>
                <a:ea typeface="Arial"/>
                <a:cs typeface="Arial"/>
              </a:rPr>
              <a:t>02</a:t>
            </a:r>
          </a:p>
        </p:txBody>
      </p:sp>
      <p:sp>
        <p:nvSpPr>
          <p:cNvPr id="8" name="text">
            <a:extLst xmlns:a="http://schemas.openxmlformats.org/drawingml/2006/main">
              <a:ext uri="{FF2B5EF4-FFF2-40B4-BE49-F238E27FC236}">
                <a16:creationId xmlns:a16="http://schemas.microsoft.com/office/drawing/2014/main" id="{17812F67-F718-4735-82B7-FA3AE8271F7C}"/>
              </a:ext>
            </a:extLst>
          </p:cNvPr>
          <p:cNvSpPr>
            <a:spLocks xmlns:a="http://schemas.openxmlformats.org/drawingml/2006/main" noGrp="1"/>
          </p:cNvSpPr>
          <p:nvPr/>
        </p:nvSpPr>
        <p:spPr>
          <a:xfrm xmlns:a="http://schemas.openxmlformats.org/drawingml/2006/main">
            <a:off x="1600200" y="323850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325" b="1">
                <a:solidFill>
                  <a:srgbClr val="FFFFFF"/>
                </a:solidFill>
                <a:latin typeface="Arial"/>
                <a:ea typeface="Arial"/>
                <a:cs typeface="Arial"/>
              </a:defRPr>
            </a:pPr>
            <a:r>
              <a:rPr sz="2325" b="1">
                <a:solidFill>
                  <a:srgbClr val="FFFFFF"/>
                </a:solidFill>
                <a:latin typeface="Arial"/>
                <a:ea typeface="Arial"/>
                <a:cs typeface="Arial"/>
              </a:rPr>
              <a:t>Choose the capacitor coding</a:t>
            </a:r>
          </a:p>
        </p:txBody>
      </p:sp>
      <p:sp>
        <p:nvSpPr>
          <p:cNvPr id="9" name="text">
            <a:extLst xmlns:a="http://schemas.openxmlformats.org/drawingml/2006/main">
              <a:ext uri="{FF2B5EF4-FFF2-40B4-BE49-F238E27FC236}">
                <a16:creationId xmlns:a16="http://schemas.microsoft.com/office/drawing/2014/main" id="{37A285EC-19D7-4582-A07B-A7DEED33D42C}"/>
              </a:ext>
            </a:extLst>
          </p:cNvPr>
          <p:cNvSpPr>
            <a:spLocks xmlns:a="http://schemas.openxmlformats.org/drawingml/2006/main" noGrp="1"/>
          </p:cNvSpPr>
          <p:nvPr/>
        </p:nvSpPr>
        <p:spPr>
          <a:xfrm xmlns:a="http://schemas.openxmlformats.org/drawingml/2006/main">
            <a:off x="1600200" y="37052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75" b="0">
                <a:solidFill>
                  <a:srgbClr val="FFFFFF"/>
                </a:solidFill>
                <a:latin typeface="Arial"/>
                <a:ea typeface="Arial"/>
                <a:cs typeface="Arial"/>
              </a:defRPr>
            </a:pPr>
            <a:r>
              <a:rPr sz="1875" b="0">
                <a:solidFill>
                  <a:srgbClr val="FFFFFF"/>
                </a:solidFill>
                <a:latin typeface="Arial"/>
                <a:ea typeface="Arial"/>
                <a:cs typeface="Arial"/>
              </a:rPr>
              <a:t>Compare binary, thermometer and segmented arrays</a:t>
            </a:r>
          </a:p>
          <a:p xmlns:a="http://schemas.openxmlformats.org/drawingml/2006/main">
            <a:pPr>
              <a:buNone/>
              <a:defRPr sz="1875" b="0">
                <a:solidFill>
                  <a:srgbClr val="FFFFFF"/>
                </a:solidFill>
                <a:latin typeface="Arial"/>
                <a:ea typeface="Arial"/>
                <a:cs typeface="Arial"/>
              </a:defRPr>
            </a:pPr>
            <a:r>
              <a:rPr sz="1875" b="0">
                <a:solidFill>
                  <a:srgbClr val="FFFFFF"/>
                </a:solidFill>
                <a:latin typeface="Arial"/>
                <a:ea typeface="Arial"/>
                <a:cs typeface="Arial"/>
              </a:rPr>
              <a:t>for linearity, capacitance and control overhead</a:t>
            </a:r>
          </a:p>
        </p:txBody>
      </p:sp>
      <p:sp>
        <p:nvSpPr>
          <p:cNvPr id="10" name="text">
            <a:extLst xmlns:a="http://schemas.openxmlformats.org/drawingml/2006/main">
              <a:ext uri="{FF2B5EF4-FFF2-40B4-BE49-F238E27FC236}">
                <a16:creationId xmlns:a16="http://schemas.microsoft.com/office/drawing/2014/main" id="{89DD5D46-EEDE-4033-95F0-50E028E9605A}"/>
              </a:ext>
            </a:extLst>
          </p:cNvPr>
          <p:cNvSpPr>
            <a:spLocks xmlns:a="http://schemas.openxmlformats.org/drawingml/2006/main" noGrp="1"/>
          </p:cNvSpPr>
          <p:nvPr/>
        </p:nvSpPr>
        <p:spPr>
          <a:xfrm xmlns:a="http://schemas.openxmlformats.org/drawingml/2006/main">
            <a:off x="476250" y="4476750"/>
            <a:ext cx="95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750" b="1">
                <a:solidFill>
                  <a:srgbClr val="CFB991"/>
                </a:solidFill>
                <a:latin typeface="Arial"/>
                <a:ea typeface="Arial"/>
                <a:cs typeface="Arial"/>
              </a:defRPr>
            </a:pPr>
            <a:r>
              <a:rPr sz="3750" b="1">
                <a:solidFill>
                  <a:srgbClr val="CFB991"/>
                </a:solidFill>
                <a:latin typeface="Arial"/>
                <a:ea typeface="Arial"/>
                <a:cs typeface="Arial"/>
              </a:rPr>
              <a:t>03</a:t>
            </a:r>
          </a:p>
        </p:txBody>
      </p:sp>
      <p:sp>
        <p:nvSpPr>
          <p:cNvPr id="11" name="text">
            <a:extLst xmlns:a="http://schemas.openxmlformats.org/drawingml/2006/main">
              <a:ext uri="{FF2B5EF4-FFF2-40B4-BE49-F238E27FC236}">
                <a16:creationId xmlns:a16="http://schemas.microsoft.com/office/drawing/2014/main" id="{4C989A94-9CD4-4B07-89CE-1419C2D76535}"/>
              </a:ext>
            </a:extLst>
          </p:cNvPr>
          <p:cNvSpPr>
            <a:spLocks xmlns:a="http://schemas.openxmlformats.org/drawingml/2006/main" noGrp="1"/>
          </p:cNvSpPr>
          <p:nvPr/>
        </p:nvSpPr>
        <p:spPr>
          <a:xfrm xmlns:a="http://schemas.openxmlformats.org/drawingml/2006/main">
            <a:off x="1600200" y="4476750"/>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325" b="1">
                <a:solidFill>
                  <a:srgbClr val="FFFFFF"/>
                </a:solidFill>
                <a:latin typeface="Arial"/>
                <a:ea typeface="Arial"/>
                <a:cs typeface="Arial"/>
              </a:defRPr>
            </a:pPr>
            <a:r>
              <a:rPr sz="2325" b="1">
                <a:solidFill>
                  <a:srgbClr val="FFFFFF"/>
                </a:solidFill>
                <a:latin typeface="Arial"/>
                <a:ea typeface="Arial"/>
                <a:cs typeface="Arial"/>
              </a:rPr>
              <a:t>Build and verify in TSMC 180 nm</a:t>
            </a:r>
          </a:p>
        </p:txBody>
      </p:sp>
      <p:sp>
        <p:nvSpPr>
          <p:cNvPr id="12" name="text">
            <a:extLst xmlns:a="http://schemas.openxmlformats.org/drawingml/2006/main">
              <a:ext uri="{FF2B5EF4-FFF2-40B4-BE49-F238E27FC236}">
                <a16:creationId xmlns:a16="http://schemas.microsoft.com/office/drawing/2014/main" id="{D005053B-18A8-4B62-9CDF-8E10362B1A8E}"/>
              </a:ext>
            </a:extLst>
          </p:cNvPr>
          <p:cNvSpPr>
            <a:spLocks xmlns:a="http://schemas.openxmlformats.org/drawingml/2006/main" noGrp="1"/>
          </p:cNvSpPr>
          <p:nvPr/>
        </p:nvSpPr>
        <p:spPr>
          <a:xfrm xmlns:a="http://schemas.openxmlformats.org/drawingml/2006/main">
            <a:off x="1600200" y="494347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75" b="0">
                <a:solidFill>
                  <a:srgbClr val="FFFFFF"/>
                </a:solidFill>
                <a:latin typeface="Arial"/>
                <a:ea typeface="Arial"/>
                <a:cs typeface="Arial"/>
              </a:defRPr>
            </a:pPr>
            <a:r>
              <a:rPr sz="1875" b="0">
                <a:solidFill>
                  <a:srgbClr val="FFFFFF"/>
                </a:solidFill>
                <a:latin typeface="Arial"/>
                <a:ea typeface="Arial"/>
                <a:cs typeface="Arial"/>
              </a:rPr>
              <a:t>Cadence schematic, simulation, layout and extraction</a:t>
            </a:r>
          </a:p>
          <a:p xmlns:a="http://schemas.openxmlformats.org/drawingml/2006/main">
            <a:pPr>
              <a:buNone/>
              <a:defRPr sz="1875" b="0">
                <a:solidFill>
                  <a:srgbClr val="FFFFFF"/>
                </a:solidFill>
                <a:latin typeface="Arial"/>
                <a:ea typeface="Arial"/>
                <a:cs typeface="Arial"/>
              </a:defRPr>
            </a:pPr>
            <a:r>
              <a:rPr sz="1875" b="0">
                <a:solidFill>
                  <a:srgbClr val="FFFFFF"/>
                </a:solidFill>
                <a:latin typeface="Arial"/>
                <a:ea typeface="Arial"/>
                <a:cs typeface="Arial"/>
              </a:rPr>
              <a:t>Check settling, injection, leakage and cryogenic shifts</a:t>
            </a:r>
          </a:p>
        </p:txBody>
      </p:sp>
      <p:sp>
        <p:nvSpPr>
          <p:cNvPr id="13" name="text">
            <a:extLst xmlns:a="http://schemas.openxmlformats.org/drawingml/2006/main">
              <a:ext uri="{FF2B5EF4-FFF2-40B4-BE49-F238E27FC236}">
                <a16:creationId xmlns:a16="http://schemas.microsoft.com/office/drawing/2014/main" id="{AE5923AD-7E5B-4672-AA24-66865E391FB0}"/>
              </a:ext>
            </a:extLst>
          </p:cNvPr>
          <p:cNvSpPr>
            <a:spLocks xmlns:a="http://schemas.openxmlformats.org/drawingml/2006/main" noGrp="1"/>
          </p:cNvSpPr>
          <p:nvPr/>
        </p:nvSpPr>
        <p:spPr>
          <a:xfrm xmlns:a="http://schemas.openxmlformats.org/drawingml/2006/main">
            <a:off x="476250" y="5886450"/>
            <a:ext cx="11191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025" b="1">
                <a:solidFill>
                  <a:srgbClr val="CFB991"/>
                </a:solidFill>
                <a:latin typeface="Arial"/>
                <a:ea typeface="Arial"/>
                <a:cs typeface="Arial"/>
              </a:defRPr>
            </a:pPr>
            <a:r>
              <a:rPr sz="2025" b="1">
                <a:solidFill>
                  <a:srgbClr val="CFB991"/>
                </a:solidFill>
                <a:latin typeface="Arial"/>
                <a:ea typeface="Arial"/>
                <a:cs typeface="Arial"/>
              </a:rPr>
              <a:t>Success: accurate bias coverage with a defensible refresh and power budget</a:t>
            </a:r>
          </a:p>
        </p:txBody>
      </p:sp>
    </p:spTree>
    <p:extLst>
      <p:ext uri="{BB962C8B-B14F-4D97-AF65-F5344CB8AC3E}">
        <p14:creationId xmlns:p14="http://schemas.microsoft.com/office/powerpoint/2010/main" val="36473163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ED815C78-5BAE-4A2E-B3C4-4978701E8E7B}"/>
              </a:ext>
            </a:extLst>
          </p:cNvPr>
          <p:cNvSpPr>
            <a:spLocks xmlns:a="http://schemas.openxmlformats.org/drawingml/2006/main" noGrp="1"/>
          </p:cNvSpPr>
          <p:nvPr/>
        </p:nvSpPr>
        <p:spPr>
          <a:xfrm xmlns:a="http://schemas.openxmlformats.org/drawingml/2006/main">
            <a:off x="457200" y="62865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150" b="1">
                <a:solidFill>
                  <a:srgbClr val="000000"/>
                </a:solidFill>
                <a:latin typeface="Arial"/>
                <a:ea typeface="Arial"/>
                <a:cs typeface="Arial"/>
              </a:defRPr>
            </a:pPr>
            <a:r>
              <a:rPr sz="3150" b="1">
                <a:solidFill>
                  <a:srgbClr val="000000"/>
                </a:solidFill>
                <a:latin typeface="Arial"/>
                <a:ea typeface="Arial"/>
                <a:cs typeface="Arial"/>
              </a:rPr>
              <a:t>Backup: mismatch and retention models</a:t>
            </a:r>
          </a:p>
        </p:txBody>
      </p:sp>
      <p:sp>
        <p:nvSpPr>
          <p:cNvPr id="2" name="Subtitle">
            <a:extLst xmlns:a="http://schemas.openxmlformats.org/drawingml/2006/main">
              <a:ext uri="{FF2B5EF4-FFF2-40B4-BE49-F238E27FC236}">
                <a16:creationId xmlns:a16="http://schemas.microsoft.com/office/drawing/2014/main" id="{FE72EA39-13EC-4012-B6C8-3B82B107203B}"/>
              </a:ext>
            </a:extLst>
          </p:cNvPr>
          <p:cNvSpPr>
            <a:spLocks xmlns:a="http://schemas.openxmlformats.org/drawingml/2006/main" noGrp="1"/>
          </p:cNvSpPr>
          <p:nvPr/>
        </p:nvSpPr>
        <p:spPr>
          <a:xfrm xmlns:a="http://schemas.openxmlformats.org/drawingml/2006/main">
            <a:off x="457200" y="133350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00" b="0">
                <a:solidFill>
                  <a:srgbClr val="8E6F3E"/>
                </a:solidFill>
                <a:latin typeface="Arial"/>
                <a:ea typeface="Arial"/>
                <a:cs typeface="Arial"/>
              </a:defRPr>
            </a:pPr>
            <a:r>
              <a:rPr sz="1800" b="0">
                <a:solidFill>
                  <a:srgbClr val="8E6F3E"/>
                </a:solidFill>
                <a:latin typeface="Arial"/>
                <a:ea typeface="Arial"/>
                <a:cs typeface="Arial"/>
              </a:rPr>
              <a:t>Supporting project simulations for discussion after the 5-minute pitch</a:t>
            </a:r>
          </a:p>
        </p:txBody>
      </p:sp>
      <p:sp>
        <p:nvSpPr>
          <p:cNvPr id="3" name="text">
            <a:extLst xmlns:a="http://schemas.openxmlformats.org/drawingml/2006/main">
              <a:ext uri="{FF2B5EF4-FFF2-40B4-BE49-F238E27FC236}">
                <a16:creationId xmlns:a16="http://schemas.microsoft.com/office/drawing/2014/main" id="{BEFDA33F-45B4-467E-AEBA-D31CAE177251}"/>
              </a:ext>
            </a:extLst>
          </p:cNvPr>
          <p:cNvSpPr>
            <a:spLocks xmlns:a="http://schemas.openxmlformats.org/drawingml/2006/main" noGrp="1"/>
          </p:cNvSpPr>
          <p:nvPr/>
        </p:nvSpPr>
        <p:spPr>
          <a:xfrm xmlns:a="http://schemas.openxmlformats.org/drawingml/2006/main">
            <a:off x="11372850" y="645795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050" b="0">
                <a:solidFill>
                  <a:srgbClr val="555960"/>
                </a:solidFill>
                <a:latin typeface="Arial"/>
                <a:ea typeface="Arial"/>
                <a:cs typeface="Arial"/>
              </a:defRPr>
            </a:pPr>
            <a:r>
              <a:rPr sz="1050" b="0">
                <a:solidFill>
                  <a:srgbClr val="555960"/>
                </a:solidFill>
                <a:latin typeface="Arial"/>
                <a:ea typeface="Arial"/>
                <a:cs typeface="Arial"/>
              </a:rPr>
              <a:t>7</a:t>
            </a:r>
          </a:p>
        </p:txBody>
      </p:sp>
      <p:sp>
        <p:nvSpPr>
          <p:cNvPr id="4" name="text">
            <a:extLst xmlns:a="http://schemas.openxmlformats.org/drawingml/2006/main">
              <a:ext uri="{FF2B5EF4-FFF2-40B4-BE49-F238E27FC236}">
                <a16:creationId xmlns:a16="http://schemas.microsoft.com/office/drawing/2014/main" id="{327EC5D8-448C-4F15-9DA2-F87BFAE897F2}"/>
              </a:ext>
            </a:extLst>
          </p:cNvPr>
          <p:cNvSpPr>
            <a:spLocks xmlns:a="http://schemas.openxmlformats.org/drawingml/2006/main" noGrp="1"/>
          </p:cNvSpPr>
          <p:nvPr/>
        </p:nvSpPr>
        <p:spPr>
          <a:xfrm xmlns:a="http://schemas.openxmlformats.org/drawingml/2006/main">
            <a:off x="476250" y="18669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100" b="1">
                <a:solidFill>
                  <a:srgbClr val="000000"/>
                </a:solidFill>
                <a:latin typeface="Arial"/>
                <a:ea typeface="Arial"/>
                <a:cs typeface="Arial"/>
              </a:defRPr>
            </a:pPr>
            <a:r>
              <a:rPr sz="2100" b="1">
                <a:solidFill>
                  <a:srgbClr val="000000"/>
                </a:solidFill>
                <a:latin typeface="Arial"/>
                <a:ea typeface="Arial"/>
                <a:cs typeface="Arial"/>
              </a:rPr>
              <a:t>Capacitor mismatch</a:t>
            </a:r>
          </a:p>
        </p:txBody>
      </p:sp>
      <p:sp>
        <p:nvSpPr>
          <p:cNvPr id="5" name="text">
            <a:extLst xmlns:a="http://schemas.openxmlformats.org/drawingml/2006/main">
              <a:ext uri="{FF2B5EF4-FFF2-40B4-BE49-F238E27FC236}">
                <a16:creationId xmlns:a16="http://schemas.microsoft.com/office/drawing/2014/main" id="{64985A9B-E7A7-4241-BC70-AEC7886146F9}"/>
              </a:ext>
            </a:extLst>
          </p:cNvPr>
          <p:cNvSpPr>
            <a:spLocks xmlns:a="http://schemas.openxmlformats.org/drawingml/2006/main" noGrp="1"/>
          </p:cNvSpPr>
          <p:nvPr/>
        </p:nvSpPr>
        <p:spPr>
          <a:xfrm xmlns:a="http://schemas.openxmlformats.org/drawingml/2006/main">
            <a:off x="6410325" y="18669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100" b="1">
                <a:solidFill>
                  <a:srgbClr val="000000"/>
                </a:solidFill>
                <a:latin typeface="Arial"/>
                <a:ea typeface="Arial"/>
                <a:cs typeface="Arial"/>
              </a:defRPr>
            </a:pPr>
            <a:r>
              <a:rPr sz="2100" b="1">
                <a:solidFill>
                  <a:srgbClr val="000000"/>
                </a:solidFill>
                <a:latin typeface="Arial"/>
                <a:ea typeface="Arial"/>
                <a:cs typeface="Arial"/>
              </a:rPr>
              <a:t>Leakage between refreshes</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816bea82d006439d"/>
          <a:stretch xmlns:a="http://schemas.openxmlformats.org/drawingml/2006/main"/>
        </p:blipFill>
        <p:spPr>
          <a:xfrm xmlns:a="http://schemas.openxmlformats.org/drawingml/2006/main">
            <a:off x="457729" y="2305050"/>
            <a:ext cx="5437717" cy="3495675"/>
          </a:xfrm>
          <a:prstGeom xmlns:a="http://schemas.openxmlformats.org/drawingml/2006/main" prst="rect">
            <a:avLst/>
          </a:prstGeom>
        </p:spPr>
      </p:pic>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d16be09ca4e1492d"/>
          <a:stretch xmlns:a="http://schemas.openxmlformats.org/drawingml/2006/main"/>
        </p:blipFill>
        <p:spPr>
          <a:xfrm xmlns:a="http://schemas.openxmlformats.org/drawingml/2006/main">
            <a:off x="7021781" y="2514600"/>
            <a:ext cx="4092038" cy="3286125"/>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3B8999DF-0416-4DEB-950A-407D0EBF6B9B}"/>
              </a:ext>
            </a:extLst>
          </p:cNvPr>
          <p:cNvSpPr>
            <a:spLocks xmlns:a="http://schemas.openxmlformats.org/drawingml/2006/main" noGrp="1"/>
          </p:cNvSpPr>
          <p:nvPr/>
        </p:nvSpPr>
        <p:spPr>
          <a:xfrm xmlns:a="http://schemas.openxmlformats.org/drawingml/2006/main">
            <a:off x="476250" y="5810250"/>
            <a:ext cx="5429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650" b="1">
                <a:solidFill>
                  <a:srgbClr val="000000"/>
                </a:solidFill>
                <a:latin typeface="Arial"/>
                <a:ea typeface="Arial"/>
                <a:cs typeface="Arial"/>
              </a:defRPr>
            </a:pPr>
            <a:r>
              <a:rPr sz="1650" b="1">
                <a:solidFill>
                  <a:srgbClr val="000000"/>
                </a:solidFill>
                <a:latin typeface="Arial"/>
                <a:ea typeface="Arial"/>
                <a:cs typeface="Arial"/>
              </a:rPr>
              <a:t>Segmented coding reduces DNL in this sweep.</a:t>
            </a:r>
          </a:p>
        </p:txBody>
      </p:sp>
      <p:sp>
        <p:nvSpPr>
          <p:cNvPr id="9" name="text">
            <a:extLst xmlns:a="http://schemas.openxmlformats.org/drawingml/2006/main">
              <a:ext uri="{FF2B5EF4-FFF2-40B4-BE49-F238E27FC236}">
                <a16:creationId xmlns:a16="http://schemas.microsoft.com/office/drawing/2014/main" id="{1B457C9D-481B-4D9D-9E82-03B109F64E5D}"/>
              </a:ext>
            </a:extLst>
          </p:cNvPr>
          <p:cNvSpPr>
            <a:spLocks xmlns:a="http://schemas.openxmlformats.org/drawingml/2006/main" noGrp="1"/>
          </p:cNvSpPr>
          <p:nvPr/>
        </p:nvSpPr>
        <p:spPr>
          <a:xfrm xmlns:a="http://schemas.openxmlformats.org/drawingml/2006/main">
            <a:off x="6429375" y="5810250"/>
            <a:ext cx="5410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650" b="1">
                <a:solidFill>
                  <a:srgbClr val="000000"/>
                </a:solidFill>
                <a:latin typeface="Arial"/>
                <a:ea typeface="Arial"/>
                <a:cs typeface="Arial"/>
              </a:defRPr>
            </a:pPr>
            <a:r>
              <a:rPr sz="1650" b="1">
                <a:solidFill>
                  <a:srgbClr val="000000"/>
                </a:solidFill>
                <a:latin typeface="Arial"/>
                <a:ea typeface="Arial"/>
                <a:cs typeface="Arial"/>
              </a:rPr>
              <a:t>Droop scales as I_leak / (C_storage × f_R).</a:t>
            </a:r>
          </a:p>
        </p:txBody>
      </p:sp>
      <p:sp>
        <p:nvSpPr>
          <p:cNvPr id="10" name="text">
            <a:extLst xmlns:a="http://schemas.openxmlformats.org/drawingml/2006/main">
              <a:ext uri="{FF2B5EF4-FFF2-40B4-BE49-F238E27FC236}">
                <a16:creationId xmlns:a16="http://schemas.microsoft.com/office/drawing/2014/main" id="{B490D4E1-C4F5-4915-9712-78D22276F8D1}"/>
              </a:ext>
            </a:extLst>
          </p:cNvPr>
          <p:cNvSpPr>
            <a:spLocks xmlns:a="http://schemas.openxmlformats.org/drawingml/2006/main" noGrp="1"/>
          </p:cNvSpPr>
          <p:nvPr/>
        </p:nvSpPr>
        <p:spPr>
          <a:xfrm xmlns:a="http://schemas.openxmlformats.org/drawingml/2006/main">
            <a:off x="476250" y="6238875"/>
            <a:ext cx="11191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b="0">
                <a:solidFill>
                  <a:srgbClr val="555960"/>
                </a:solidFill>
                <a:latin typeface="Arial"/>
                <a:ea typeface="Arial"/>
                <a:cs typeface="Arial"/>
              </a:defRPr>
            </a:pPr>
            <a:r>
              <a:rPr sz="1200" b="0">
                <a:solidFill>
                  <a:srgbClr val="555960"/>
                </a:solidFill>
                <a:latin typeface="Arial"/>
                <a:ea typeface="Arial"/>
                <a:cs typeface="Arial"/>
              </a:rPr>
              <a:t>Right: C_storage = 1 pF, C_DAC = 5.12 pF, I_leak = 1 pA. Curves are behavioral, not silicon.</a:t>
            </a:r>
          </a:p>
        </p:txBody>
      </p:sp>
    </p:spTree>
    <p:extLst>
      <p:ext uri="{BB962C8B-B14F-4D97-AF65-F5344CB8AC3E}">
        <p14:creationId xmlns:p14="http://schemas.microsoft.com/office/powerpoint/2010/main" val="2215505537"/>
      </p:ext>
    </p:extLst>
  </p:cSld>
</p:sld>
</file>

<file path=ppt/theme/theme1.xml><?xml version="1.0" encoding="utf-8"?>
<a:theme xmlns:a="http://schemas.openxmlformats.org/drawingml/2006/main" name="Purdue Unniversity Theme">
  <a:themeElements>
    <a:clrScheme name="Custom 1">
      <a:dk1>
        <a:srgbClr val="000000"/>
      </a:dk1>
      <a:lt1>
        <a:srgbClr val="FEFFFF"/>
      </a:lt1>
      <a:dk2>
        <a:srgbClr val="55585F"/>
      </a:dk2>
      <a:lt2>
        <a:srgbClr val="CECACB"/>
      </a:lt2>
      <a:accent1>
        <a:srgbClr val="CFB891"/>
      </a:accent1>
      <a:accent2>
        <a:srgbClr val="555960"/>
      </a:accent2>
      <a:accent3>
        <a:srgbClr val="8D6F3D"/>
      </a:accent3>
      <a:accent4>
        <a:srgbClr val="FFFFFF"/>
      </a:accent4>
      <a:accent5>
        <a:srgbClr val="DAAA00"/>
      </a:accent5>
      <a:accent6>
        <a:srgbClr val="9D9694"/>
      </a:accent6>
      <a:hlink>
        <a:srgbClr val="000000"/>
      </a:hlink>
      <a:folHlink>
        <a:srgbClr val="FEFFFF"/>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ustom 1">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2026-09-20T01:51:08.2890000Z</dcterms:created>
  <dcterms:modified xsi:type="dcterms:W3CDTF">2026-09-20T01:51:08.2890000Z</dcterms:modified>
</coreProperties>
</file>